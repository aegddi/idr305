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69"/>
  </p:notesMasterIdLst>
  <p:handoutMasterIdLst>
    <p:handoutMasterId r:id="rId70"/>
  </p:handoutMasterIdLst>
  <p:sldIdLst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33" r:id="rId55"/>
    <p:sldId id="334" r:id="rId56"/>
    <p:sldId id="326" r:id="rId57"/>
    <p:sldId id="327" r:id="rId58"/>
    <p:sldId id="328" r:id="rId59"/>
    <p:sldId id="330" r:id="rId60"/>
    <p:sldId id="329" r:id="rId61"/>
    <p:sldId id="331" r:id="rId62"/>
    <p:sldId id="332" r:id="rId63"/>
    <p:sldId id="335" r:id="rId64"/>
    <p:sldId id="336" r:id="rId65"/>
    <p:sldId id="337" r:id="rId66"/>
    <p:sldId id="338" r:id="rId67"/>
    <p:sldId id="339" r:id="rId6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592"/>
    <a:srgbClr val="0000FF"/>
    <a:srgbClr val="E97C67"/>
    <a:srgbClr val="005CA3"/>
    <a:srgbClr val="2E538D"/>
    <a:srgbClr val="ED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3A680-70A0-4B3B-95E5-5D6AACE401AF}" v="927" dt="2021-10-04T08:04:13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94"/>
  </p:normalViewPr>
  <p:slideViewPr>
    <p:cSldViewPr snapToGrid="0" snapToObjects="1">
      <p:cViewPr varScale="1">
        <p:scale>
          <a:sx n="125" d="100"/>
          <a:sy n="125" d="100"/>
        </p:scale>
        <p:origin x="14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70" Type="http://schemas.openxmlformats.org/officeDocument/2006/relationships/handoutMaster" Target="handoutMasters/handoutMaster1.xml"/><Relationship Id="rId71" Type="http://schemas.openxmlformats.org/officeDocument/2006/relationships/commentAuthors" Target="commentAuthors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microsoft.com/office/2016/11/relationships/changesInfo" Target="changesInfos/changesInfo1.xml"/><Relationship Id="rId7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10-04T08:15:43.334" v="11952" actId="114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27T07:14:20.801" v="11694" actId="20577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27T07:14:20.801" v="11694" actId="20577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27T07:16:22.757" v="11703" actId="20577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27T07:16:22.757" v="11703" actId="20577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27T07:32:11.171" v="11714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27T07:32:11.171" v="11714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 modAnim">
        <pc:chgData name="Di Mattia Alessandro Edoardo Giorgio David" userId="f8954a66-e5ad-4a1c-9536-1d2117047f5f" providerId="ADAL" clId="{CDD3A680-70A0-4B3B-95E5-5D6AACE401AF}" dt="2021-10-04T08:04:13.084" v="11831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27T07:50:03.480" v="11733" actId="207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27T07:50:03.480" v="11733" actId="207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27T07:32:41.655" v="11729" actId="20577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27T07:42:51.052" v="11731" actId="1076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27T07:42:51.052" v="11731" actId="1076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27T08:33:32.510" v="11734" actId="20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27T08:33:32.510" v="11734" actId="207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10-04T08:05:56.117" v="11837" actId="20577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10-04T08:05:56.117" v="11837" actId="20577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27T08:43:04.036" v="11767" actId="12789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">
          <ac:chgData name="Di Mattia Alessandro Edoardo Giorgio David" userId="f8954a66-e5ad-4a1c-9536-1d2117047f5f" providerId="ADAL" clId="{CDD3A680-70A0-4B3B-95E5-5D6AACE401AF}" dt="2021-09-27T08:43:04.036" v="11767" actId="12789"/>
          <ac:picMkLst>
            <pc:docMk/>
            <pc:sldMk cId="2199071209" sldId="332"/>
            <ac:picMk id="2" creationId="{ABF5A5C4-BD1A-4AEE-97B9-FEFA8A99CB91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27T08:42:50.506" v="11763" actId="478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10-04T08:15:43.334" v="11952" actId="114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spChg chg="add mod">
          <ac:chgData name="Di Mattia Alessandro Edoardo Giorgio David" userId="f8954a66-e5ad-4a1c-9536-1d2117047f5f" providerId="ADAL" clId="{CDD3A680-70A0-4B3B-95E5-5D6AACE401AF}" dt="2021-10-04T08:15:43.334" v="11952" actId="114"/>
          <ac:spMkLst>
            <pc:docMk/>
            <pc:sldMk cId="734881783" sldId="338"/>
            <ac:spMk id="5" creationId="{DCD8967E-1DB8-4402-BCBA-6FC8DEB0174B}"/>
          </ac:spMkLst>
        </pc:spChg>
        <pc:spChg chg="add del mod">
          <ac:chgData name="Di Mattia Alessandro Edoardo Giorgio David" userId="f8954a66-e5ad-4a1c-9536-1d2117047f5f" providerId="ADAL" clId="{CDD3A680-70A0-4B3B-95E5-5D6AACE401AF}" dt="2021-09-27T08:44:16.835" v="11769"/>
          <ac:spMkLst>
            <pc:docMk/>
            <pc:sldMk cId="734881783" sldId="338"/>
            <ac:spMk id="7" creationId="{5B675CA0-4A21-4164-A86F-5BF3E9AD77EA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27T08:44:14.838" v="11768" actId="478"/>
          <ac:picMkLst>
            <pc:docMk/>
            <pc:sldMk cId="734881783" sldId="338"/>
            <ac:picMk id="4" creationId="{D47F4B04-5A19-4728-B33D-FF557D603D75}"/>
          </ac:picMkLst>
        </pc:picChg>
        <pc:picChg chg="add mod">
          <ac:chgData name="Di Mattia Alessandro Edoardo Giorgio David" userId="f8954a66-e5ad-4a1c-9536-1d2117047f5f" providerId="ADAL" clId="{CDD3A680-70A0-4B3B-95E5-5D6AACE401AF}" dt="2021-09-27T08:44:19.764" v="11770" actId="1076"/>
          <ac:picMkLst>
            <pc:docMk/>
            <pc:sldMk cId="734881783" sldId="338"/>
            <ac:picMk id="8" creationId="{3E15E38A-8965-4F81-A10A-6DDA5C66A6F9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 sldOrd">
      <pc:chgData name="Di Mattia Alessandro Edoardo Giorgio David" userId="f8954a66-e5ad-4a1c-9536-1d2117047f5f" providerId="ADAL" clId="{D8B22C94-5161-4D79-9F18-B740023E9373}" dt="2021-10-04T11:58:28.413" v="11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  <pc:sldChg chg="ord">
        <pc:chgData name="Di Mattia Alessandro Edoardo Giorgio David" userId="f8954a66-e5ad-4a1c-9536-1d2117047f5f" providerId="ADAL" clId="{D8B22C94-5161-4D79-9F18-B740023E9373}" dt="2021-10-04T11:58:28.413" v="11"/>
        <pc:sldMkLst>
          <pc:docMk/>
          <pc:sldMk cId="1843198118" sldId="328"/>
        </pc:sldMkLst>
      </pc:sldChg>
      <pc:sldChg chg="modSp mod">
        <pc:chgData name="Di Mattia Alessandro Edoardo Giorgio David" userId="f8954a66-e5ad-4a1c-9536-1d2117047f5f" providerId="ADAL" clId="{D8B22C94-5161-4D79-9F18-B740023E9373}" dt="2021-10-04T11:57:47.683" v="9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D8B22C94-5161-4D79-9F18-B740023E9373}" dt="2021-10-04T11:57:47.683" v="9" actId="20577"/>
          <ac:spMkLst>
            <pc:docMk/>
            <pc:sldMk cId="1841387797" sldId="339"/>
            <ac:spMk id="3" creationId="{0BD58A40-8316-4E53-88D8-77D5B8D2DD6C}"/>
          </ac:spMkLst>
        </pc:spChg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9807B3-B547-48C7-B658-74575A1DC2AB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8E4B6490-6063-4D3B-AE08-15C6A72F6F59}">
      <dgm:prSet phldrT="[Text]"/>
      <dgm:spPr/>
      <dgm:t>
        <a:bodyPr/>
        <a:lstStyle/>
        <a:p>
          <a:r>
            <a:rPr lang="it-IT" dirty="0"/>
            <a:t>Variable Costs (VC)</a:t>
          </a:r>
          <a:endParaRPr lang="en-US" dirty="0"/>
        </a:p>
      </dgm:t>
    </dgm:pt>
    <dgm:pt modelId="{99AB6A5C-25B8-40F2-B5B7-FB7590E9CE22}" type="parTrans" cxnId="{7704C470-5CF3-43C3-9ABC-7B25197DB8D6}">
      <dgm:prSet/>
      <dgm:spPr/>
      <dgm:t>
        <a:bodyPr/>
        <a:lstStyle/>
        <a:p>
          <a:endParaRPr lang="en-US"/>
        </a:p>
      </dgm:t>
    </dgm:pt>
    <dgm:pt modelId="{2A3DF1F5-881F-49A7-851B-BA7980343B26}" type="sibTrans" cxnId="{7704C470-5CF3-43C3-9ABC-7B25197DB8D6}">
      <dgm:prSet/>
      <dgm:spPr/>
      <dgm:t>
        <a:bodyPr/>
        <a:lstStyle/>
        <a:p>
          <a:endParaRPr lang="en-US"/>
        </a:p>
      </dgm:t>
    </dgm:pt>
    <dgm:pt modelId="{71978841-299D-4DB8-ACA9-D07429437B4D}">
      <dgm:prSet phldrT="[Text]"/>
      <dgm:spPr/>
      <dgm:t>
        <a:bodyPr/>
        <a:lstStyle/>
        <a:p>
          <a:r>
            <a:rPr lang="it-IT" dirty="0"/>
            <a:t>Fixed Costs (FC)</a:t>
          </a:r>
          <a:endParaRPr lang="en-US" dirty="0"/>
        </a:p>
      </dgm:t>
    </dgm:pt>
    <dgm:pt modelId="{810A614D-8568-4CD3-BF3B-A39165E6CE38}" type="parTrans" cxnId="{5342F988-79B8-475C-91B5-168AFF1321DE}">
      <dgm:prSet/>
      <dgm:spPr/>
      <dgm:t>
        <a:bodyPr/>
        <a:lstStyle/>
        <a:p>
          <a:endParaRPr lang="en-US"/>
        </a:p>
      </dgm:t>
    </dgm:pt>
    <dgm:pt modelId="{BC22C38C-F3D2-4685-84C1-F2C9149B623B}" type="sibTrans" cxnId="{5342F988-79B8-475C-91B5-168AFF1321DE}">
      <dgm:prSet/>
      <dgm:spPr/>
      <dgm:t>
        <a:bodyPr/>
        <a:lstStyle/>
        <a:p>
          <a:endParaRPr lang="en-US"/>
        </a:p>
      </dgm:t>
    </dgm:pt>
    <dgm:pt modelId="{3A202734-4A56-4AB1-A1BB-041BC74296D1}" type="pres">
      <dgm:prSet presAssocID="{749807B3-B547-48C7-B658-74575A1DC2AB}" presName="compositeShape" presStyleCnt="0">
        <dgm:presLayoutVars>
          <dgm:chMax val="7"/>
          <dgm:dir/>
          <dgm:resizeHandles val="exact"/>
        </dgm:presLayoutVars>
      </dgm:prSet>
      <dgm:spPr/>
    </dgm:pt>
    <dgm:pt modelId="{5A0CB0D7-9C0E-45BA-90EF-C3FAC5D20D10}" type="pres">
      <dgm:prSet presAssocID="{749807B3-B547-48C7-B658-74575A1DC2AB}" presName="wedge1" presStyleLbl="node1" presStyleIdx="0" presStyleCnt="2" custLinFactNeighborX="53248" custLinFactNeighborY="5129"/>
      <dgm:spPr/>
    </dgm:pt>
    <dgm:pt modelId="{F6B3BA11-0D2D-478A-A479-E6FB3338BCC1}" type="pres">
      <dgm:prSet presAssocID="{749807B3-B547-48C7-B658-74575A1DC2AB}" presName="wedge1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DE50637B-2250-42D6-A4A0-3D0F52EEEF88}" type="pres">
      <dgm:prSet presAssocID="{749807B3-B547-48C7-B658-74575A1DC2AB}" presName="wedge2" presStyleLbl="node1" presStyleIdx="1" presStyleCnt="2" custLinFactNeighborX="55185" custLinFactNeighborY="5129"/>
      <dgm:spPr/>
    </dgm:pt>
    <dgm:pt modelId="{57388116-127A-4FAF-8C17-66780C666EC1}" type="pres">
      <dgm:prSet presAssocID="{749807B3-B547-48C7-B658-74575A1DC2AB}" presName="wedge2Tx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2E61B832-184C-4B85-9E83-AD9A92AC3F07}" type="presOf" srcId="{71978841-299D-4DB8-ACA9-D07429437B4D}" destId="{57388116-127A-4FAF-8C17-66780C666EC1}" srcOrd="1" destOrd="0" presId="urn:microsoft.com/office/officeart/2005/8/layout/chart3"/>
    <dgm:cxn modelId="{B44E286C-E14F-47BF-A7EB-F29B138405AA}" type="presOf" srcId="{8E4B6490-6063-4D3B-AE08-15C6A72F6F59}" destId="{5A0CB0D7-9C0E-45BA-90EF-C3FAC5D20D10}" srcOrd="0" destOrd="0" presId="urn:microsoft.com/office/officeart/2005/8/layout/chart3"/>
    <dgm:cxn modelId="{7704C470-5CF3-43C3-9ABC-7B25197DB8D6}" srcId="{749807B3-B547-48C7-B658-74575A1DC2AB}" destId="{8E4B6490-6063-4D3B-AE08-15C6A72F6F59}" srcOrd="0" destOrd="0" parTransId="{99AB6A5C-25B8-40F2-B5B7-FB7590E9CE22}" sibTransId="{2A3DF1F5-881F-49A7-851B-BA7980343B26}"/>
    <dgm:cxn modelId="{5342F988-79B8-475C-91B5-168AFF1321DE}" srcId="{749807B3-B547-48C7-B658-74575A1DC2AB}" destId="{71978841-299D-4DB8-ACA9-D07429437B4D}" srcOrd="1" destOrd="0" parTransId="{810A614D-8568-4CD3-BF3B-A39165E6CE38}" sibTransId="{BC22C38C-F3D2-4685-84C1-F2C9149B623B}"/>
    <dgm:cxn modelId="{148208CF-1692-49A1-8AE5-5EAC1995F447}" type="presOf" srcId="{71978841-299D-4DB8-ACA9-D07429437B4D}" destId="{DE50637B-2250-42D6-A4A0-3D0F52EEEF88}" srcOrd="0" destOrd="0" presId="urn:microsoft.com/office/officeart/2005/8/layout/chart3"/>
    <dgm:cxn modelId="{80FB6ACF-6120-4DF1-84F4-64F0738F214F}" type="presOf" srcId="{749807B3-B547-48C7-B658-74575A1DC2AB}" destId="{3A202734-4A56-4AB1-A1BB-041BC74296D1}" srcOrd="0" destOrd="0" presId="urn:microsoft.com/office/officeart/2005/8/layout/chart3"/>
    <dgm:cxn modelId="{13619DF6-12C1-4742-B260-18F2883EDDB8}" type="presOf" srcId="{8E4B6490-6063-4D3B-AE08-15C6A72F6F59}" destId="{F6B3BA11-0D2D-478A-A479-E6FB3338BCC1}" srcOrd="1" destOrd="0" presId="urn:microsoft.com/office/officeart/2005/8/layout/chart3"/>
    <dgm:cxn modelId="{6634E3D1-9EFB-48D7-80A6-09B6A85B6A0D}" type="presParOf" srcId="{3A202734-4A56-4AB1-A1BB-041BC74296D1}" destId="{5A0CB0D7-9C0E-45BA-90EF-C3FAC5D20D10}" srcOrd="0" destOrd="0" presId="urn:microsoft.com/office/officeart/2005/8/layout/chart3"/>
    <dgm:cxn modelId="{45646633-6E82-43D6-9F33-3D38AD9ED184}" type="presParOf" srcId="{3A202734-4A56-4AB1-A1BB-041BC74296D1}" destId="{F6B3BA11-0D2D-478A-A479-E6FB3338BCC1}" srcOrd="1" destOrd="0" presId="urn:microsoft.com/office/officeart/2005/8/layout/chart3"/>
    <dgm:cxn modelId="{5FFE586F-FFCF-4506-9CA1-40F807D150CC}" type="presParOf" srcId="{3A202734-4A56-4AB1-A1BB-041BC74296D1}" destId="{DE50637B-2250-42D6-A4A0-3D0F52EEEF88}" srcOrd="2" destOrd="0" presId="urn:microsoft.com/office/officeart/2005/8/layout/chart3"/>
    <dgm:cxn modelId="{F19A204F-9A49-4949-A611-F87D1F98D95F}" type="presParOf" srcId="{3A202734-4A56-4AB1-A1BB-041BC74296D1}" destId="{57388116-127A-4FAF-8C17-66780C666EC1}" srcOrd="3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CB0D7-9C0E-45BA-90EF-C3FAC5D20D10}">
      <dsp:nvSpPr>
        <dsp:cNvPr id="0" name=""/>
        <dsp:cNvSpPr/>
      </dsp:nvSpPr>
      <dsp:spPr>
        <a:xfrm>
          <a:off x="3199518" y="500211"/>
          <a:ext cx="3413760" cy="3413760"/>
        </a:xfrm>
        <a:prstGeom prst="pie">
          <a:avLst>
            <a:gd name="adj1" fmla="val 1620000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Variable Costs (VC)</a:t>
          </a:r>
          <a:endParaRPr lang="en-US" sz="2600" kern="1200" dirty="0"/>
        </a:p>
      </dsp:txBody>
      <dsp:txXfrm>
        <a:off x="4906398" y="1008211"/>
        <a:ext cx="1198880" cy="2397760"/>
      </dsp:txXfrm>
    </dsp:sp>
    <dsp:sp modelId="{DE50637B-2250-42D6-A4A0-3D0F52EEEF88}">
      <dsp:nvSpPr>
        <dsp:cNvPr id="0" name=""/>
        <dsp:cNvSpPr/>
      </dsp:nvSpPr>
      <dsp:spPr>
        <a:xfrm>
          <a:off x="3184363" y="500211"/>
          <a:ext cx="3413760" cy="341376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600" kern="1200" dirty="0"/>
            <a:t>Fixed Costs (FC)</a:t>
          </a:r>
          <a:endParaRPr lang="en-US" sz="2600" kern="1200" dirty="0"/>
        </a:p>
      </dsp:txBody>
      <dsp:txXfrm>
        <a:off x="3672043" y="1008211"/>
        <a:ext cx="1198880" cy="2397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14.08.2026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14.08.2026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E51CF-144B-7241-A1FB-D978B63A9AA3}" type="slidenum">
              <a:rPr lang="nb-NO" smtClean="0"/>
              <a:t>5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00231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36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technology improves — e.g. better machinery, faster software, improved logistics — the same K and L combination produces </a:t>
            </a:r>
            <a:r>
              <a:rPr lang="en-US" sz="936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</a:t>
            </a:r>
            <a:r>
              <a:rPr lang="en-US" sz="936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output than before (efficiency goes up), or equivalently you need </a:t>
            </a:r>
            <a:r>
              <a:rPr lang="en-US" sz="936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</a:t>
            </a:r>
            <a:r>
              <a:rPr lang="en-US" sz="936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 and L to produce the same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E51CF-144B-7241-A1FB-D978B63A9AA3}" type="slidenum">
              <a:rPr lang="nb-NO" smtClean="0"/>
              <a:t>7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71226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36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Labor (L)</a:t>
            </a:r>
            <a:r>
              <a:rPr lang="en-US" sz="936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human work applied to production: hours worked, number of workers, their effort/skill. In the short run, a firm can adjust this relatively easily (hire, fire, add overtime shifts).</a:t>
            </a:r>
          </a:p>
          <a:p>
            <a:r>
              <a:rPr lang="en-US" sz="936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Capital (K)</a:t>
            </a:r>
            <a:r>
              <a:rPr lang="en-US" sz="936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physical/durable inputs used to produce output: machinery, equipment, buildings, tools. This is treated as </a:t>
            </a:r>
            <a:r>
              <a:rPr lang="en-US" sz="936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r>
              <a:rPr lang="en-US" sz="936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short run because it typically takes time to build a new plant or buy new machines — you can't scale it up or down overnight.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E51CF-144B-7241-A1FB-D978B63A9AA3}" type="slidenum">
              <a:rPr lang="nb-NO" smtClean="0"/>
              <a:t>8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049176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tif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theme" Target="../theme/theme2.xml"/><Relationship Id="rId10" Type="http://schemas.openxmlformats.org/officeDocument/2006/relationships/image" Target="../media/image3.png"/><Relationship Id="rId11" Type="http://schemas.openxmlformats.org/officeDocument/2006/relationships/image" Target="../media/image4.tif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theme" Target="../theme/theme3.xml"/><Relationship Id="rId10" Type="http://schemas.openxmlformats.org/officeDocument/2006/relationships/image" Target="../media/image5.png"/><Relationship Id="rId11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theme" Target="../theme/theme4.xml"/><Relationship Id="rId10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4572000" y="51689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urworldindata.org/population-growth-and-famines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hyperlink" Target="https://www.forbes.com/sites/christinasettimi/2020/09/14/the-worlds-highest-paid-soccer-players-2020-messi-wins-mbappe-rises/?sh=485152d1cff0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gi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congraphs.org/graphs/micro/consumer_theory/preferences_and_utility/cobb_douglas_utility_3d" TargetMode="External"/><Relationship Id="rId3" Type="http://schemas.openxmlformats.org/officeDocument/2006/relationships/image" Target="../media/image2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_-OWuxR0-V8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tkf_UIGRTAs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Lecture</a:t>
            </a: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 #4</a:t>
            </a:r>
            <a:b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</a:b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Producer Theory</a:t>
            </a:r>
            <a:endParaRPr lang="en-GB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8261-40C6-42E6-9CCD-6E15A340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Firm’s Production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062A-E431-4830-8792-8C3AA0B0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Production Technology</a:t>
            </a:r>
          </a:p>
          <a:p>
            <a:pPr lvl="1"/>
            <a:r>
              <a:rPr lang="en-GB" sz="2800" dirty="0"/>
              <a:t>Describes how inputs can be transformed into outputs</a:t>
            </a:r>
          </a:p>
          <a:p>
            <a:pPr lvl="1"/>
            <a:r>
              <a:rPr lang="en-GB" sz="2800" dirty="0"/>
              <a:t>Inputs: land, labour, capital and raw materials</a:t>
            </a:r>
          </a:p>
          <a:p>
            <a:pPr lvl="1"/>
            <a:r>
              <a:rPr lang="en-GB" sz="2800" dirty="0"/>
              <a:t>Outputs: cars, desks, books, etc.</a:t>
            </a:r>
          </a:p>
          <a:p>
            <a:r>
              <a:rPr lang="en-US" altLang="en-US" sz="2800" dirty="0"/>
              <a:t>Firms can produce different amounts of outputs using different combinations of inputs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22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8261-40C6-42E6-9CCD-6E15A340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Firm’s Production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062A-E431-4830-8792-8C3AA0B0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/>
            <a:r>
              <a:rPr lang="en-US" altLang="en-US" sz="2800" dirty="0"/>
              <a:t>Cost Constraints</a:t>
            </a:r>
          </a:p>
          <a:p>
            <a:pPr lvl="1"/>
            <a:r>
              <a:rPr lang="en-US" altLang="en-US" sz="2800" dirty="0"/>
              <a:t>Firms must consider prices of labor, capital and other inputs</a:t>
            </a:r>
          </a:p>
          <a:p>
            <a:pPr lvl="1"/>
            <a:r>
              <a:rPr lang="en-US" altLang="en-US" sz="2800" dirty="0"/>
              <a:t>Firms want to minimize total production costs partly determined by input prices</a:t>
            </a:r>
          </a:p>
          <a:p>
            <a:pPr marL="0" indent="0">
              <a:buNone/>
            </a:pPr>
            <a:r>
              <a:rPr lang="en-US" altLang="en-US" sz="2800" dirty="0"/>
              <a:t>As consumers maximize utility, firms must be concerned about minimizing the costs of production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56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8261-40C6-42E6-9CCD-6E15A3407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Firm’s Production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062A-E431-4830-8792-8C3AA0B07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/>
            <a:r>
              <a:rPr lang="en-GB" altLang="en-US" sz="2400" dirty="0"/>
              <a:t>Input Choices</a:t>
            </a:r>
          </a:p>
          <a:p>
            <a:pPr marL="628650" lvl="1"/>
            <a:r>
              <a:rPr lang="en-GB" altLang="en-US" sz="2400" dirty="0"/>
              <a:t>Given input prices and production technology, the firm must choose how much of each input to use in producing output</a:t>
            </a:r>
          </a:p>
          <a:p>
            <a:pPr marL="628650" lvl="1"/>
            <a:r>
              <a:rPr lang="en-GB" altLang="en-US" sz="2400" dirty="0"/>
              <a:t>Given prices of different inputs, the firm may choose different combinations of inputs to minimize costs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If labour is cheap, firm may choose to produce the same product using more labour and less capital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80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E148-23FB-4970-884F-75AA15333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Firm’s Production Decisions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2AD80-86AD-4C0B-8BB2-DF45089F6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Market supply:</a:t>
            </a:r>
          </a:p>
          <a:p>
            <a:pPr lvl="1"/>
            <a:r>
              <a:rPr lang="en-US" dirty="0"/>
              <a:t>The aggregation of all individual firms' supply curves in a market.</a:t>
            </a:r>
            <a:endParaRPr lang="en-GB" sz="2200" dirty="0"/>
          </a:p>
          <a:p>
            <a:r>
              <a:rPr lang="en-US" sz="2400" b="1" dirty="0"/>
              <a:t>Short run</a:t>
            </a:r>
            <a:r>
              <a:rPr lang="en-US" sz="2400" dirty="0"/>
              <a:t> supply tends to be </a:t>
            </a:r>
            <a:r>
              <a:rPr lang="en-US" sz="2400" b="1" dirty="0"/>
              <a:t>less elastic</a:t>
            </a:r>
            <a:r>
              <a:rPr lang="en-US" sz="2400" dirty="0"/>
              <a:t> (inelastic) </a:t>
            </a:r>
          </a:p>
          <a:p>
            <a:pPr lvl="1"/>
            <a:r>
              <a:rPr lang="en-US" dirty="0"/>
              <a:t> Firms are stuck with existing capacity and can only change </a:t>
            </a:r>
            <a:r>
              <a:rPr lang="en-US" dirty="0" err="1"/>
              <a:t>labour</a:t>
            </a:r>
            <a:r>
              <a:rPr lang="en-US" dirty="0"/>
              <a:t>/overtime/materials at the margin.</a:t>
            </a:r>
          </a:p>
          <a:p>
            <a:r>
              <a:rPr lang="en-US" sz="2400" b="1" dirty="0"/>
              <a:t>Long run</a:t>
            </a:r>
            <a:r>
              <a:rPr lang="en-US" sz="2400" dirty="0"/>
              <a:t> supply tends to be </a:t>
            </a:r>
            <a:r>
              <a:rPr lang="en-US" sz="2400" b="1" dirty="0"/>
              <a:t>more elastic</a:t>
            </a:r>
            <a:r>
              <a:rPr lang="en-US" sz="2400" dirty="0"/>
              <a:t> </a:t>
            </a:r>
          </a:p>
          <a:p>
            <a:pPr lvl="1"/>
            <a:r>
              <a:rPr lang="en-US" dirty="0"/>
              <a:t>firms can build new plants, enter the market, or adopt new technology, so output responds much more to price changes.</a:t>
            </a:r>
          </a:p>
          <a:p>
            <a:pPr lvl="1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4672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4F0A-C956-4FF9-9CEF-8828D3BF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The Technology of Production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0C796-771F-4F4F-BD64-A5F8042C9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b="1" dirty="0"/>
              <a:t>Production Function</a:t>
            </a:r>
            <a:r>
              <a:rPr lang="en-US" altLang="en-US" sz="2800" dirty="0"/>
              <a:t>:</a:t>
            </a:r>
          </a:p>
          <a:p>
            <a:pPr lvl="1" eaLnBrk="1" hangingPunct="1"/>
            <a:r>
              <a:rPr lang="en-US" altLang="en-US" sz="2800" dirty="0"/>
              <a:t>Indicates the highest output (Q) that a firm can produce for every specified combination of inputs</a:t>
            </a:r>
          </a:p>
          <a:p>
            <a:pPr lvl="1" eaLnBrk="1" hangingPunct="1"/>
            <a:r>
              <a:rPr lang="en-US" altLang="en-US" sz="2800" dirty="0"/>
              <a:t>For simplicity, we will consider only labor (L) and capital (K) </a:t>
            </a:r>
          </a:p>
          <a:p>
            <a:pPr lvl="1" eaLnBrk="1" hangingPunct="1"/>
            <a:r>
              <a:rPr lang="en-US" altLang="en-US" sz="2800" dirty="0"/>
              <a:t>Shows what is technically feasible when the firm operates efficiently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4F0A-C956-4FF9-9CEF-8828D3BF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The Technology of Production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0C796-771F-4F4F-BD64-A5F8042C9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The production function for two inputs:</a:t>
            </a:r>
          </a:p>
          <a:p>
            <a:pPr marL="0" indent="0">
              <a:buNone/>
            </a:pPr>
            <a:r>
              <a:rPr lang="en-US" altLang="en-US" sz="2000" dirty="0"/>
              <a:t>						Q = F(K,L)</a:t>
            </a:r>
          </a:p>
          <a:p>
            <a:r>
              <a:rPr lang="en-US" altLang="en-US" sz="2000" dirty="0"/>
              <a:t>Output (Q) is a function of capital (K) and labor (L)</a:t>
            </a:r>
          </a:p>
          <a:p>
            <a:r>
              <a:rPr lang="en-US" altLang="en-US" sz="2000" dirty="0"/>
              <a:t>The technology available in a particular industry or economy allows firms to use labor and capital more or less efficiently</a:t>
            </a:r>
          </a:p>
          <a:p>
            <a:pPr lvl="1"/>
            <a:r>
              <a:rPr lang="en-US" altLang="en-US" sz="2000" dirty="0"/>
              <a:t>Technology alters the combination of input required in the process</a:t>
            </a:r>
          </a:p>
          <a:p>
            <a:pPr lvl="1"/>
            <a:r>
              <a:rPr lang="en-US" altLang="en-US" sz="2000" dirty="0"/>
              <a:t>For this reason, we will consider the production function for a given technology</a:t>
            </a:r>
          </a:p>
          <a:p>
            <a:pPr marL="0" indent="0">
              <a:buNone/>
            </a:pPr>
            <a:r>
              <a:rPr lang="en-US" altLang="en-US" sz="2000" dirty="0"/>
              <a:t>						Q = A*F(L,K)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456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B2AC-724E-4310-ABA4-45F34D1D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Production: One Variable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23F1E-20E5-4102-B6A7-04F181C40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We will begin by considering the case when only one input can be varied (the short run)</a:t>
            </a:r>
          </a:p>
          <a:p>
            <a:pPr eaLnBrk="1" hangingPunct="1"/>
            <a:r>
              <a:rPr lang="en-US" altLang="en-US" sz="2800" dirty="0"/>
              <a:t>Assume </a:t>
            </a:r>
            <a:r>
              <a:rPr lang="en-US" altLang="en-US" sz="2800" dirty="0">
                <a:solidFill>
                  <a:srgbClr val="00B050"/>
                </a:solidFill>
              </a:rPr>
              <a:t>capital is fixed </a:t>
            </a:r>
            <a:r>
              <a:rPr lang="en-US" altLang="en-US" sz="2800" dirty="0"/>
              <a:t>(can be changed in the long run) and </a:t>
            </a:r>
            <a:r>
              <a:rPr lang="en-US" altLang="en-US" sz="2800" dirty="0">
                <a:solidFill>
                  <a:srgbClr val="00B0F0"/>
                </a:solidFill>
              </a:rPr>
              <a:t>labor is variable </a:t>
            </a:r>
            <a:r>
              <a:rPr lang="en-US" altLang="en-US" sz="2800" dirty="0"/>
              <a:t>(can be changed in the short run)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41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893D25-5C6C-41F5-B226-50D51955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591" y="240842"/>
            <a:ext cx="6114818" cy="4846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7459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5949A-A5F1-402C-A5BC-9451C240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98DF3-E07F-41C3-AE3D-3553CFA9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Observations:</a:t>
            </a:r>
          </a:p>
          <a:p>
            <a:pPr lvl="1"/>
            <a:r>
              <a:rPr lang="en-US" sz="2400" dirty="0"/>
              <a:t>When labor is zero, output is zero as well</a:t>
            </a:r>
          </a:p>
          <a:p>
            <a:pPr lvl="1"/>
            <a:r>
              <a:rPr lang="en-US" sz="2400" dirty="0"/>
              <a:t>With additional workers, output (Q) increases up to 8 units of labor</a:t>
            </a:r>
          </a:p>
          <a:p>
            <a:pPr lvl="1"/>
            <a:r>
              <a:rPr lang="en-US" sz="2400" dirty="0"/>
              <a:t>Beyond this point, output declines</a:t>
            </a:r>
          </a:p>
          <a:p>
            <a:pPr lvl="1"/>
            <a:r>
              <a:rPr lang="en-US" sz="2400" dirty="0"/>
              <a:t>Increasing labor can make better use of existing capital initially</a:t>
            </a:r>
          </a:p>
          <a:p>
            <a:pPr lvl="1"/>
            <a:r>
              <a:rPr lang="en-US" sz="2400" dirty="0"/>
              <a:t>After a point, more labor is not useful and can be counterproductive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017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4C748AAC-A9B2-4721-B877-FBEF2ADD9B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689741"/>
              </p:ext>
            </p:extLst>
          </p:nvPr>
        </p:nvGraphicFramePr>
        <p:xfrm>
          <a:off x="1247078" y="965734"/>
          <a:ext cx="6649844" cy="3783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839966" imgH="5029636" progId="Excel.Chart.8">
                  <p:embed/>
                </p:oleObj>
              </mc:Choice>
              <mc:Fallback>
                <p:oleObj r:id="rId2" imgW="8839966" imgH="5029636" progId="Excel.Chart.8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4C748AAC-A9B2-4721-B877-FBEF2ADD9B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078" y="965734"/>
                        <a:ext cx="6649844" cy="3783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423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99B6-7F27-4B51-B07F-BBF07C22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Production: One Variable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679B-111F-42A4-B459-693A45590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Two important measures:</a:t>
            </a:r>
          </a:p>
          <a:p>
            <a:pPr lvl="1"/>
            <a:r>
              <a:rPr lang="en-US" sz="2800" dirty="0"/>
              <a:t>Marginal product of labor (MPL)</a:t>
            </a:r>
          </a:p>
          <a:p>
            <a:pPr lvl="2"/>
            <a:r>
              <a:rPr lang="en-US" sz="2800" dirty="0"/>
              <a:t>Additional output that is generated by an additional input unit (labor) </a:t>
            </a:r>
          </a:p>
          <a:p>
            <a:pPr lvl="1"/>
            <a:r>
              <a:rPr lang="en-US" sz="2800" dirty="0"/>
              <a:t>Average product of labor (APL)</a:t>
            </a:r>
          </a:p>
          <a:p>
            <a:pPr lvl="2"/>
            <a:r>
              <a:rPr lang="en-US" sz="2800" dirty="0"/>
              <a:t>Measures the average productivity over a range of an input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340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3D06-2AB5-4B2A-86E4-99BC6A84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Production: One Variable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7645-0773-4A46-B2BB-80E82FE72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Average product of labor </a:t>
            </a:r>
          </a:p>
          <a:p>
            <a:pPr lvl="1"/>
            <a:r>
              <a:rPr lang="en-US" sz="2400" dirty="0"/>
              <a:t>Output per unit of a particular input</a:t>
            </a:r>
          </a:p>
          <a:p>
            <a:r>
              <a:rPr lang="en-US" sz="2400" dirty="0"/>
              <a:t>Measures the productivity of a firm’s labor in terms of how much, on average, each worker can produce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AC425-D4D8-47C4-934C-767A69AD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870" y="3010981"/>
            <a:ext cx="5077968" cy="127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14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3D06-2AB5-4B2A-86E4-99BC6A84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Production: One Variable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7645-0773-4A46-B2BB-80E82FE72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Marginal product of labor </a:t>
            </a:r>
          </a:p>
          <a:p>
            <a:pPr lvl="1"/>
            <a:r>
              <a:rPr lang="en-US" sz="2000" dirty="0"/>
              <a:t>Additional output produced when labor increases by one unit</a:t>
            </a:r>
          </a:p>
          <a:p>
            <a:pPr lvl="1"/>
            <a:r>
              <a:rPr lang="en-US" sz="2000" dirty="0"/>
              <a:t>Measures the productivity of an additional unit of a firm’s labor in terms of how much each additional unit will produce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619F1-2EF3-4D29-BEA0-824A510C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652" y="2857500"/>
            <a:ext cx="5103876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90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C4631B-7CBE-4B38-B9E6-0BD97BFE0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08" y="217266"/>
            <a:ext cx="7487647" cy="473743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5358B06-1DE5-45DE-912A-765465560813}"/>
              </a:ext>
            </a:extLst>
          </p:cNvPr>
          <p:cNvSpPr/>
          <p:nvPr/>
        </p:nvSpPr>
        <p:spPr>
          <a:xfrm>
            <a:off x="7560527" y="2185639"/>
            <a:ext cx="282497" cy="275063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677616-D2C0-4E60-8A4C-14DCF135BB79}"/>
              </a:ext>
            </a:extLst>
          </p:cNvPr>
          <p:cNvSpPr/>
          <p:nvPr/>
        </p:nvSpPr>
        <p:spPr>
          <a:xfrm>
            <a:off x="7560527" y="3888058"/>
            <a:ext cx="282497" cy="27506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1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3991-4B66-4F2F-BD1E-7FEED8CFF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Production: One Variable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6D78F-1918-4503-AF56-191C2B39D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can see graphically:</a:t>
            </a:r>
          </a:p>
          <a:p>
            <a:pPr lvl="1"/>
            <a:r>
              <a:rPr lang="en-US" sz="2400" dirty="0"/>
              <a:t>How output varies with changes in labor</a:t>
            </a:r>
          </a:p>
          <a:p>
            <a:pPr lvl="2"/>
            <a:r>
              <a:rPr lang="en-US" sz="2400" dirty="0"/>
              <a:t>Output is maximized at 112 units</a:t>
            </a:r>
          </a:p>
          <a:p>
            <a:r>
              <a:rPr lang="en-US" sz="2400" dirty="0"/>
              <a:t>Average and marginal products</a:t>
            </a:r>
          </a:p>
          <a:p>
            <a:pPr lvl="1"/>
            <a:r>
              <a:rPr lang="en-US" sz="2400" dirty="0"/>
              <a:t>Marginal product is positive if total output is increasing</a:t>
            </a:r>
          </a:p>
          <a:p>
            <a:pPr lvl="1"/>
            <a:r>
              <a:rPr lang="en-US" sz="2400" dirty="0"/>
              <a:t>Marginal product crosses average product when average product is at its maximum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30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p_chart_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56" y="167640"/>
            <a:ext cx="6830888" cy="46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41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2728-82E4-431F-A781-BA0C9656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Production: One Variable Input</a:t>
            </a:r>
            <a:endParaRPr lang="en-US" dirty="0"/>
          </a:p>
        </p:txBody>
      </p:sp>
      <p:pic>
        <p:nvPicPr>
          <p:cNvPr id="3" name="Picture 2" descr="ap_mp_chart_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39" y="1425575"/>
            <a:ext cx="6160921" cy="333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28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7D5E9-C61B-4112-BCB0-BE99D99C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Production: One Variable Input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0D9A-573E-464B-9A1E-E1F4D9E4A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law of diminishing marginal returns</a:t>
            </a:r>
            <a:r>
              <a:rPr lang="en-US" dirty="0"/>
              <a:t>: as you keep adding more units of </a:t>
            </a:r>
            <a:r>
              <a:rPr lang="en-US" i="1" dirty="0"/>
              <a:t>one</a:t>
            </a:r>
            <a:r>
              <a:rPr lang="en-US" dirty="0"/>
              <a:t> variable input (here, labor) while holding all other inputs fixed (here, capital = 10 units), the </a:t>
            </a:r>
            <a:r>
              <a:rPr lang="en-US" i="1" dirty="0"/>
              <a:t>additional</a:t>
            </a:r>
            <a:r>
              <a:rPr lang="en-US" dirty="0"/>
              <a:t> output from each extra unit (the marginal product) eventually starts to fall. </a:t>
            </a:r>
          </a:p>
          <a:p>
            <a:pPr lvl="1"/>
            <a:r>
              <a:rPr lang="en-US"/>
              <a:t>Diminishing </a:t>
            </a:r>
            <a:r>
              <a:rPr lang="en-US" dirty="0"/>
              <a:t>marginal returns does </a:t>
            </a:r>
            <a:r>
              <a:rPr lang="en-US" i="1" dirty="0"/>
              <a:t>not</a:t>
            </a:r>
            <a:r>
              <a:rPr lang="en-US" dirty="0"/>
              <a:t> mean total output is falling — output is still rising, just at a decreasing rate — until marginal product hits zero (L=8 in the table), at which point total output peaks (Q=112) and would start to </a:t>
            </a:r>
            <a:r>
              <a:rPr lang="en-US" i="1" dirty="0"/>
              <a:t>decline</a:t>
            </a:r>
            <a:r>
              <a:rPr lang="en-US" dirty="0"/>
              <a:t> if you kept adding labor beyond that.</a:t>
            </a:r>
          </a:p>
        </p:txBody>
      </p:sp>
    </p:spTree>
    <p:extLst>
      <p:ext uri="{BB962C8B-B14F-4D97-AF65-F5344CB8AC3E}">
        <p14:creationId xmlns:p14="http://schemas.microsoft.com/office/powerpoint/2010/main" val="1204931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B9B6-F717-4B8F-803B-677381F4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Law of Diminishing Marginal Returns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FEE07-299D-4294-8B97-0E6E4FA3A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 dirty="0"/>
              <a:t>When the use of labor input is small and capital is fixed, output increases considerably since workers can begin to specialize and MP of labor increases</a:t>
            </a:r>
          </a:p>
          <a:p>
            <a:pPr eaLnBrk="1" hangingPunct="1"/>
            <a:r>
              <a:rPr lang="en-US" altLang="en-US" sz="1800" dirty="0"/>
              <a:t>When the use of labor input is large, some workers become less efficient and MP of labor decreases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881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D474-02C5-4D5E-BD0B-DB3CB7997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Causes of Diminishing Marginal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45BE2-C87C-47BB-945E-5BF827D6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5383"/>
            <a:ext cx="7578090" cy="2925637"/>
          </a:xfrm>
        </p:spPr>
        <p:txBody>
          <a:bodyPr>
            <a:noAutofit/>
          </a:bodyPr>
          <a:lstStyle/>
          <a:p>
            <a:pPr>
              <a:defRPr sz="1900"/>
            </a:pPr>
            <a:r>
              <a:t>Comes from pairing a fixed input with a variable one</a:t>
            </a:r>
          </a:p>
          <a:p>
            <a:pPr lvl="1">
              <a:defRPr sz="1700"/>
            </a:pPr>
            <a:r>
              <a:t>Fixed: capital (or a club's existing squad/system)</a:t>
            </a:r>
          </a:p>
          <a:p>
            <a:pPr lvl="1">
              <a:defRPr sz="1700"/>
            </a:pPr>
            <a:r>
              <a:t>Variable: labor (or players added to that setup)</a:t>
            </a:r>
          </a:p>
          <a:p>
            <a:pPr>
              <a:defRPr sz="1900"/>
            </a:pPr>
            <a:r>
              <a:t>Adding more labor to fixed capital lowers each extra unit's output</a:t>
            </a:r>
          </a:p>
          <a:p>
            <a:pPr lvl="1">
              <a:defRPr sz="1700"/>
            </a:pPr>
            <a:r>
              <a:t>Less capital per worker, more congestion and coordination costs</a:t>
            </a:r>
          </a:p>
          <a:p>
            <a:pPr lvl="1">
              <a:defRPr sz="1700"/>
            </a:pPr>
            <a:r>
              <a:t>Ex. A striker moving between RB Leipzig and Salzburg (same owner) joins an established system — may score fewer goals than expected at first</a:t>
            </a:r>
          </a:p>
          <a:p>
            <a:pPr>
              <a:defRPr sz="1900"/>
            </a:pPr>
            <a:r>
              <a:t>It's a short-run phenomenon</a:t>
            </a:r>
          </a:p>
          <a:p>
            <a:pPr lvl="1">
              <a:defRPr sz="1700"/>
            </a:pPr>
            <a:r>
              <a:t>Assumes capital is fixed — true only in the short run</a:t>
            </a:r>
          </a:p>
          <a:p>
            <a:pPr lvl="1">
              <a:defRPr sz="1700"/>
            </a:pPr>
            <a:r>
              <a:t>Long run: capital can expand too, so the constraint disappears</a:t>
            </a:r>
          </a:p>
        </p:txBody>
      </p:sp>
    </p:spTree>
    <p:extLst>
      <p:ext uri="{BB962C8B-B14F-4D97-AF65-F5344CB8AC3E}">
        <p14:creationId xmlns:p14="http://schemas.microsoft.com/office/powerpoint/2010/main" val="4088423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67D6-61AC-4D8E-BAC0-78D6FDB4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Law of Diminishing Marginal Returns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0A9BA-C130-46BC-963A-A94DA92A4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Easily confused with negative returns – decreases in output </a:t>
            </a:r>
          </a:p>
          <a:p>
            <a:r>
              <a:rPr lang="en-US" sz="2400" dirty="0"/>
              <a:t>Explains a declining marginal product, </a:t>
            </a:r>
            <a:r>
              <a:rPr lang="en-US" sz="2400" u="sng" dirty="0"/>
              <a:t>not necessarily a negative one </a:t>
            </a:r>
            <a:r>
              <a:rPr lang="en-US" sz="2400" dirty="0"/>
              <a:t>(</a:t>
            </a:r>
            <a:r>
              <a:rPr lang="nb-NO" sz="2400" dirty="0"/>
              <a:t>Haaland</a:t>
            </a:r>
            <a:r>
              <a:rPr lang="en-US" sz="2400" dirty="0"/>
              <a:t> did not start scoring own-goals)</a:t>
            </a:r>
          </a:p>
          <a:p>
            <a:pPr lvl="1"/>
            <a:r>
              <a:rPr lang="en-US" sz="2400" dirty="0"/>
              <a:t>Additional output can be declining while total output is increasing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902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1901-EE45-43B4-8014-45FAAF38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Law of Diminishing Marginal Returns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681A2-FD9C-4415-8AB5-86D70DCBE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Assumes a constant technology:</a:t>
            </a:r>
          </a:p>
          <a:p>
            <a:pPr lvl="1"/>
            <a:r>
              <a:rPr lang="en-US" sz="2400" dirty="0"/>
              <a:t>Changes in technology will cause shifts in the production possibilities curve</a:t>
            </a:r>
          </a:p>
          <a:p>
            <a:pPr lvl="1"/>
            <a:r>
              <a:rPr lang="en-US" sz="2400" dirty="0"/>
              <a:t>More output can be produced with the same inputs</a:t>
            </a:r>
          </a:p>
          <a:p>
            <a:pPr lvl="1"/>
            <a:r>
              <a:rPr lang="en-US" sz="2400" dirty="0"/>
              <a:t>Labor productivity can increase if there are improvements in technology, even though any given production process exhibits diminishing returns to labor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20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670B4-A180-4FB7-85A5-E7B0ECB0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Technological Change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9CDDD2-5EF3-4A20-AD14-1254B15F0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0180" y="1425575"/>
            <a:ext cx="5463639" cy="333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21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555D-49EF-407C-B125-397A40A8D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Technological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3714A-FF6E-4D0D-B6DC-D7BF65D71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Thomas Malthus predicted famine and poor living conditions </a:t>
            </a:r>
          </a:p>
          <a:p>
            <a:pPr lvl="1"/>
            <a:r>
              <a:rPr lang="en-US" sz="2000" dirty="0"/>
              <a:t>Population growth increases at increasing rate</a:t>
            </a:r>
          </a:p>
          <a:p>
            <a:pPr lvl="1"/>
            <a:r>
              <a:rPr lang="en-US" sz="2000" dirty="0"/>
              <a:t>Food production increases at decreasing rate</a:t>
            </a:r>
          </a:p>
          <a:p>
            <a:r>
              <a:rPr lang="en-US" sz="2000" dirty="0"/>
              <a:t>Where Malthus failed?</a:t>
            </a:r>
          </a:p>
          <a:p>
            <a:pPr lvl="1"/>
            <a:r>
              <a:rPr lang="en-US" sz="2000" dirty="0"/>
              <a:t>Technology (pesticides, machines, refrigeration, etc.)</a:t>
            </a:r>
          </a:p>
          <a:p>
            <a:pPr lvl="1"/>
            <a:r>
              <a:rPr lang="en-US" sz="2000" dirty="0">
                <a:solidFill>
                  <a:srgbClr val="E9A59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https://ourworldindata.org/population-growth-and-famines</a:t>
            </a:r>
            <a:endParaRPr lang="en-US" sz="2000" dirty="0">
              <a:solidFill>
                <a:srgbClr val="E9A592"/>
              </a:solidFill>
            </a:endParaRPr>
          </a:p>
          <a:p>
            <a:pPr lvl="1"/>
            <a:endParaRPr lang="en-US" dirty="0"/>
          </a:p>
          <a:p>
            <a:pPr marL="3429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148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0C5F-4882-4993-A598-B19716F2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Labor Productivity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B4534-CEF0-415F-BC3A-10376F21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Macroeconomists are particularly concerned with labor productivity</a:t>
            </a:r>
          </a:p>
          <a:p>
            <a:pPr lvl="1"/>
            <a:r>
              <a:rPr lang="en-US" sz="1800" dirty="0"/>
              <a:t>The average product of labor for an entire industry or the economy as a whole </a:t>
            </a:r>
          </a:p>
          <a:p>
            <a:pPr lvl="1"/>
            <a:r>
              <a:rPr lang="en-US" sz="1800" dirty="0"/>
              <a:t>Links macroeconomics and microeconomics</a:t>
            </a:r>
          </a:p>
          <a:p>
            <a:pPr lvl="1"/>
            <a:r>
              <a:rPr lang="en-US" sz="1800" dirty="0"/>
              <a:t>Can provide useful comparisons across time and across industries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FD918-4173-4060-BAF8-8AAB78F5D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574" y="2921861"/>
            <a:ext cx="3994404" cy="100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19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1715-7E32-4E9D-9ED1-CA6C6CF0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Production Costs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30180-4BB9-4AD7-AA64-E3AA96044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Total cost is the sum of fixed and variable costs</a:t>
            </a:r>
          </a:p>
          <a:p>
            <a:pPr lvl="1"/>
            <a:r>
              <a:rPr lang="en-US" sz="2400" dirty="0"/>
              <a:t>Variable costs change according to the quantity of goods and services produced</a:t>
            </a:r>
          </a:p>
          <a:p>
            <a:pPr lvl="1"/>
            <a:r>
              <a:rPr lang="en-US" sz="2400" dirty="0"/>
              <a:t>Fixed costs are independent of </a:t>
            </a:r>
            <a:r>
              <a:rPr lang="en-US" sz="2400"/>
              <a:t>the quantity </a:t>
            </a:r>
            <a:r>
              <a:rPr lang="en-US" sz="2400" dirty="0"/>
              <a:t>of goods or services produced</a:t>
            </a:r>
          </a:p>
          <a:p>
            <a:pPr lvl="2"/>
            <a:r>
              <a:rPr lang="en-US" sz="2400" dirty="0"/>
              <a:t>Ex. Salaries monthly rental fees (time related cost)</a:t>
            </a:r>
          </a:p>
          <a:p>
            <a:pPr lvl="2"/>
            <a:r>
              <a:rPr lang="en-US" sz="2400" dirty="0"/>
              <a:t>Only short term</a:t>
            </a:r>
          </a:p>
          <a:p>
            <a:pPr lvl="1"/>
            <a:r>
              <a:rPr lang="en-US" sz="2400" dirty="0"/>
              <a:t>Long run: all costs are variable.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353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B10D-7EBA-4478-9293-A150E1BA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Fixed Costs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8AFCA4-6258-413A-BDA6-EEC3E0833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5960" y="1187299"/>
            <a:ext cx="3077553" cy="35688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18283C-1B2F-47DF-B0E1-3CCD3129A438}"/>
              </a:ext>
            </a:extLst>
          </p:cNvPr>
          <p:cNvSpPr txBox="1"/>
          <p:nvPr/>
        </p:nvSpPr>
        <p:spPr>
          <a:xfrm>
            <a:off x="3622804" y="4823057"/>
            <a:ext cx="2103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According</a:t>
            </a:r>
            <a:r>
              <a:rPr lang="nb-NO" dirty="0"/>
              <a:t> to </a:t>
            </a:r>
            <a:r>
              <a:rPr lang="nb-NO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Forbes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3636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4BAB-ACF7-463A-92C9-5B03594C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Total Costs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7A3773-C138-40AA-8239-8A5AD6251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08907"/>
            <a:ext cx="3205230" cy="3330575"/>
          </a:xfr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47C241F-E6FA-4E0C-A70D-4AAD0AA4D8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212667"/>
              </p:ext>
            </p:extLst>
          </p:nvPr>
        </p:nvGraphicFramePr>
        <p:xfrm>
          <a:off x="1524000" y="8255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7565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98EA-557B-4A70-B566-5D4605B2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Measuring Cost Directly:</a:t>
            </a:r>
            <a:br>
              <a:rPr lang="en-US" altLang="en-US" dirty="0"/>
            </a:br>
            <a:r>
              <a:rPr lang="en-US" altLang="en-US" dirty="0"/>
              <a:t>Which Costs Matter?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F33AD-948A-483A-AF43-D1DC48A8A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800" dirty="0"/>
              <a:t>If we want to start from costs, we must clarify what is meant by </a:t>
            </a:r>
            <a:r>
              <a:rPr lang="en-US" altLang="en-US" sz="2800" i="1" u="sng" dirty="0"/>
              <a:t>costs</a:t>
            </a:r>
            <a:r>
              <a:rPr lang="en-US" altLang="en-US" sz="2800" dirty="0"/>
              <a:t> and how to measure them</a:t>
            </a:r>
          </a:p>
          <a:p>
            <a:pPr lvl="1" eaLnBrk="1" hangingPunct="1"/>
            <a:r>
              <a:rPr lang="en-US" altLang="en-US" sz="2800" dirty="0"/>
              <a:t>The real world is more complicated than just K  (capital) and L (labor) </a:t>
            </a:r>
          </a:p>
          <a:p>
            <a:pPr lvl="1" eaLnBrk="1" hangingPunct="1"/>
            <a:r>
              <a:rPr lang="en-US" altLang="en-US" sz="2800" dirty="0"/>
              <a:t>If a firm has to rent equipment or buildings, the rent they pay is a cost</a:t>
            </a:r>
          </a:p>
          <a:p>
            <a:pPr lvl="1" eaLnBrk="1" hangingPunct="1"/>
            <a:r>
              <a:rPr lang="en-US" altLang="en-US" sz="2800" dirty="0"/>
              <a:t>What if a firm owns its own equipment or building?</a:t>
            </a:r>
          </a:p>
          <a:p>
            <a:pPr marL="342900" lvl="1" indent="0" eaLnBrk="1" hangingPunct="1">
              <a:buNone/>
            </a:pPr>
            <a:endParaRPr lang="en-US" altLang="en-US" sz="2800" dirty="0"/>
          </a:p>
          <a:p>
            <a:pPr lvl="1"/>
            <a:r>
              <a:rPr lang="en-US" altLang="en-US" sz="3900" dirty="0"/>
              <a:t>How are costs calculated?</a:t>
            </a:r>
          </a:p>
          <a:p>
            <a:pPr lvl="1" eaLnBrk="1" hangingPunct="1"/>
            <a:endParaRPr lang="en-US" alt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894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5CDD-5FE8-408E-A170-65194B88C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Accounting cost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55C9-4EAC-4596-AE25-B43D88917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Everything a business/ firm has paid for </a:t>
            </a:r>
          </a:p>
          <a:p>
            <a:pPr lvl="2"/>
            <a:r>
              <a:rPr lang="en-US" altLang="en-US" sz="2400" dirty="0"/>
              <a:t> Rent</a:t>
            </a:r>
          </a:p>
          <a:p>
            <a:pPr lvl="2"/>
            <a:r>
              <a:rPr lang="en-US" altLang="en-US" sz="2400" dirty="0"/>
              <a:t>Utility expenses: electricity, water, waste disposal, heating etc.</a:t>
            </a:r>
          </a:p>
          <a:p>
            <a:pPr lvl="2"/>
            <a:r>
              <a:rPr lang="en-US" altLang="en-US" sz="2400" dirty="0"/>
              <a:t>Travel expenses</a:t>
            </a:r>
          </a:p>
          <a:p>
            <a:pPr lvl="2"/>
            <a:r>
              <a:rPr lang="en-US" altLang="en-US" sz="2400" dirty="0"/>
              <a:t>Payroll expenses</a:t>
            </a:r>
          </a:p>
          <a:p>
            <a:pPr lvl="2"/>
            <a:r>
              <a:rPr lang="en-US" altLang="en-US" sz="2400" dirty="0"/>
              <a:t>Food and entertainment expenses</a:t>
            </a:r>
          </a:p>
          <a:p>
            <a:r>
              <a:rPr lang="en-US" altLang="en-US" sz="2800" dirty="0"/>
              <a:t>Explicit costs directly associated with the business</a:t>
            </a:r>
          </a:p>
        </p:txBody>
      </p:sp>
    </p:spTree>
    <p:extLst>
      <p:ext uri="{BB962C8B-B14F-4D97-AF65-F5344CB8AC3E}">
        <p14:creationId xmlns:p14="http://schemas.microsoft.com/office/powerpoint/2010/main" val="2494358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930E-6A0D-4B2E-9201-EB4B5464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Economic cost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68436-6FA4-48EC-96D3-EAD7274DA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Accounting costs plus opportunity costs (implicit)	</a:t>
            </a:r>
          </a:p>
          <a:p>
            <a:pPr lvl="1"/>
            <a:r>
              <a:rPr lang="it-IT" sz="2400" dirty="0"/>
              <a:t>« An income a company forgoes when it chooses to do or not to do something»</a:t>
            </a:r>
          </a:p>
          <a:p>
            <a:pPr lvl="1"/>
            <a:r>
              <a:rPr lang="it-IT" sz="2400" dirty="0"/>
              <a:t>Asset that I already have and I do not pay the rent on</a:t>
            </a:r>
          </a:p>
          <a:p>
            <a:pPr lvl="1"/>
            <a:r>
              <a:rPr lang="it-IT" sz="2400" dirty="0"/>
              <a:t>Ex. Attending university </a:t>
            </a:r>
          </a:p>
          <a:p>
            <a:pPr lvl="2"/>
            <a:r>
              <a:rPr lang="it-IT" sz="2200" dirty="0"/>
              <a:t>Accounting cost: tutition, books, kantine, SiMolde Bolig rent etc.</a:t>
            </a:r>
          </a:p>
          <a:p>
            <a:pPr lvl="2"/>
            <a:r>
              <a:rPr lang="it-IT" sz="2200" dirty="0"/>
              <a:t>Alternative: go straight to work and make money</a:t>
            </a:r>
          </a:p>
          <a:p>
            <a:pPr lvl="1"/>
            <a:r>
              <a:rPr lang="it-IT" sz="2400" dirty="0"/>
              <a:t>Partying hard </a:t>
            </a:r>
            <a:r>
              <a:rPr lang="it-IT" sz="2400" dirty="0">
                <a:sym typeface="Wingdings" panose="05000000000000000000" pitchFamily="2" charset="2"/>
              </a:rPr>
              <a:t> no sleeping  attending class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1364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9F94-42B7-4B38-B830-78E6AB40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Opportunity Cost</a:t>
            </a:r>
            <a:endParaRPr lang="en-US" dirty="0"/>
          </a:p>
        </p:txBody>
      </p:sp>
      <p:pic>
        <p:nvPicPr>
          <p:cNvPr id="1026" name="Picture 2" descr="What'S A Hangover Class? GIF - Hangover School Of Rock Jack Black GIFs">
            <a:extLst>
              <a:ext uri="{FF2B5EF4-FFF2-40B4-BE49-F238E27FC236}">
                <a16:creationId xmlns:a16="http://schemas.microsoft.com/office/drawing/2014/main" id="{13A6F768-C131-44E9-8659-D3607C7CD49D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622" y="1559323"/>
            <a:ext cx="4624757" cy="259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4390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9B042E-536F-4DC0-AC52-B1EEE6415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64" y="709211"/>
            <a:ext cx="5887673" cy="429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5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DBEE-1595-4129-9416-313194D43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Sunk Cost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71C00-3342-46D0-97C8-F97D77897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Money that I have already spent and cannot be recovered</a:t>
            </a:r>
          </a:p>
          <a:p>
            <a:r>
              <a:rPr lang="it-IT" dirty="0"/>
              <a:t>Manufacturing firm</a:t>
            </a:r>
          </a:p>
          <a:p>
            <a:pPr lvl="1"/>
            <a:r>
              <a:rPr lang="it-IT" sz="1800" dirty="0"/>
              <a:t>Cost of machinery</a:t>
            </a:r>
          </a:p>
          <a:p>
            <a:pPr lvl="1"/>
            <a:r>
              <a:rPr lang="it-IT" sz="1800" dirty="0"/>
              <a:t>Equipment </a:t>
            </a:r>
          </a:p>
          <a:p>
            <a:r>
              <a:rPr lang="it-IT" dirty="0"/>
              <a:t>BE Economics</a:t>
            </a:r>
          </a:p>
          <a:p>
            <a:pPr lvl="1"/>
            <a:r>
              <a:rPr lang="it-IT" sz="1800" dirty="0"/>
              <a:t>I paid to go the Champions Final. I will attend it no matters what.</a:t>
            </a:r>
          </a:p>
          <a:p>
            <a:r>
              <a:rPr lang="it-IT" dirty="0"/>
              <a:t>No considered in firms' decisions</a:t>
            </a:r>
          </a:p>
          <a:p>
            <a:pPr lvl="1"/>
            <a:r>
              <a:rPr lang="it-IT" sz="1800" dirty="0"/>
              <a:t>We consider just relevant costs that still have to occur</a:t>
            </a:r>
          </a:p>
          <a:p>
            <a:pPr lvl="1"/>
            <a:r>
              <a:rPr lang="it-IT" sz="1800" dirty="0"/>
              <a:t>Cost-revenue decisions</a:t>
            </a:r>
          </a:p>
          <a:p>
            <a:pPr lvl="1"/>
            <a:r>
              <a:rPr lang="it-IT" sz="1800" dirty="0"/>
              <a:t>All sunk costs are fixed costs, not all fixed costs are sunk conts</a:t>
            </a:r>
          </a:p>
          <a:p>
            <a:pPr lvl="2"/>
            <a:r>
              <a:rPr lang="it-IT" sz="1800" dirty="0"/>
              <a:t>I can resell my match ticket ( I will incur in some losses anyway)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573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0AAB-42FD-4AE6-BC7B-8FD9A950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Average Total Cost (ATC)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FB55-33F9-4723-BCB4-ABFADE908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Total cost divided by the quantity of output</a:t>
            </a:r>
          </a:p>
          <a:p>
            <a:r>
              <a:rPr lang="it-IT" sz="2400" dirty="0"/>
              <a:t>U-Shape</a:t>
            </a:r>
          </a:p>
          <a:p>
            <a:pPr marL="685800" lvl="1" indent="-342900">
              <a:buFont typeface="+mj-lt"/>
              <a:buAutoNum type="arabicPeriod"/>
            </a:pPr>
            <a:r>
              <a:rPr lang="it-IT" sz="2400" dirty="0"/>
              <a:t>Total cost (TC) ≈ Fixed cost (FC), output (denominator) small</a:t>
            </a:r>
          </a:p>
          <a:p>
            <a:pPr marL="685800" lvl="1" indent="-342900">
              <a:buFont typeface="+mj-lt"/>
              <a:buAutoNum type="arabicPeriod"/>
            </a:pPr>
            <a:r>
              <a:rPr lang="it-IT" sz="2400" dirty="0"/>
              <a:t>ATC declines as FC are spread over an increasing quantity of output. TC grows relatively slower than output. </a:t>
            </a:r>
          </a:p>
          <a:p>
            <a:pPr marL="685800" lvl="1" indent="-342900">
              <a:buFont typeface="+mj-lt"/>
              <a:buAutoNum type="arabicPeriod"/>
            </a:pPr>
            <a:r>
              <a:rPr lang="it-IT" sz="2400" dirty="0"/>
              <a:t>Diminishing returns </a:t>
            </a:r>
            <a:r>
              <a:rPr lang="it-IT" sz="2400" dirty="0">
                <a:sym typeface="Wingdings" panose="05000000000000000000" pitchFamily="2" charset="2"/>
              </a:rPr>
              <a:t> TC rises </a:t>
            </a:r>
            <a:endParaRPr lang="it-IT" sz="2400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5567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A162C3-DF9D-494F-9389-46A3E7BBE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70" y="127464"/>
            <a:ext cx="8020913" cy="48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48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E0F35-A011-43E7-BD49-298F5A0F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Marginal Cost (MC) and Average Variable Cost (AVC)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F480F-639E-4F93-9DD5-7B09B9E64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Marginal cost (MC)</a:t>
            </a:r>
          </a:p>
          <a:p>
            <a:pPr lvl="1"/>
            <a:r>
              <a:rPr lang="it-IT" sz="2400" dirty="0"/>
              <a:t>It is calculated by taking the change in total cost between two levels of output and dividing by the change in output</a:t>
            </a:r>
          </a:p>
          <a:p>
            <a:pPr lvl="1"/>
            <a:r>
              <a:rPr lang="it-IT" sz="2400" dirty="0"/>
              <a:t>Fixed costs do not affect marginal cost</a:t>
            </a:r>
          </a:p>
          <a:p>
            <a:r>
              <a:rPr lang="it-IT" sz="2400" dirty="0"/>
              <a:t>Average Variable Cost (AVC)</a:t>
            </a:r>
          </a:p>
          <a:p>
            <a:pPr lvl="1"/>
            <a:r>
              <a:rPr lang="it-IT" sz="2400" dirty="0"/>
              <a:t>Variable cost for each unit produced.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8802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A4989D-2029-4FAE-8A54-C5FCF17BE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52" y="400274"/>
            <a:ext cx="4858497" cy="465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208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4CDB-8AA2-475E-8FB4-8A7FF16F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ATC, AVC, and MC relationship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F5D6-9A45-4191-80DC-A3EA3538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When MC is below AVC, AVC is falling</a:t>
            </a:r>
          </a:p>
          <a:p>
            <a:pPr eaLnBrk="1" hangingPunct="1"/>
            <a:r>
              <a:rPr lang="en-US" altLang="en-US" sz="2400" dirty="0"/>
              <a:t>When MC is above AVC, AVC is rising</a:t>
            </a:r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eaLnBrk="1" hangingPunct="1"/>
            <a:r>
              <a:rPr lang="en-US" altLang="en-US" sz="2400" dirty="0"/>
              <a:t>When MC is below ATC, ATC is falling</a:t>
            </a:r>
          </a:p>
          <a:p>
            <a:pPr eaLnBrk="1" hangingPunct="1"/>
            <a:r>
              <a:rPr lang="en-US" altLang="en-US" sz="2400" dirty="0"/>
              <a:t>When MC is above ATC, ATC is rising</a:t>
            </a:r>
          </a:p>
          <a:p>
            <a:pPr eaLnBrk="1" hangingPunct="1"/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dirty="0"/>
              <a:t>Therefore, MC crosses AVC and ATC at their minimums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13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0C6E-7475-43E9-BA3B-CBF7DDC1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Why?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6B415-2D44-486C-94C6-6FB1572ED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We could explain it mathematically, but we won’t ( Lucky Guys 🍀)</a:t>
            </a:r>
          </a:p>
          <a:p>
            <a:r>
              <a:rPr lang="it-IT" dirty="0"/>
              <a:t>But we will provide an economic intuition:</a:t>
            </a:r>
          </a:p>
          <a:p>
            <a:pPr lvl="1"/>
            <a:r>
              <a:rPr lang="it-IT" sz="1800" dirty="0"/>
              <a:t>Point to the </a:t>
            </a:r>
            <a:r>
              <a:rPr lang="it-IT" sz="1800" u="sng" dirty="0"/>
              <a:t>left</a:t>
            </a:r>
            <a:r>
              <a:rPr lang="it-IT" sz="1800" dirty="0"/>
              <a:t> where MC crosses ATC (i.e., marginal cost of production is </a:t>
            </a:r>
            <a:r>
              <a:rPr lang="it-IT" sz="1800" u="sng" dirty="0"/>
              <a:t>below</a:t>
            </a:r>
            <a:r>
              <a:rPr lang="it-IT" sz="1800" dirty="0"/>
              <a:t> the average total cost of producing) </a:t>
            </a:r>
            <a:r>
              <a:rPr lang="it-IT" sz="1800" dirty="0">
                <a:sym typeface="Wingdings" panose="05000000000000000000" pitchFamily="2" charset="2"/>
              </a:rPr>
              <a:t> Producing one more additional unit will decrease average cost overall  ATC </a:t>
            </a:r>
            <a:r>
              <a:rPr lang="it-IT" sz="1800" u="sng" dirty="0">
                <a:sym typeface="Wingdings" panose="05000000000000000000" pitchFamily="2" charset="2"/>
              </a:rPr>
              <a:t>downward-sloping</a:t>
            </a:r>
          </a:p>
          <a:p>
            <a:pPr lvl="1"/>
            <a:r>
              <a:rPr lang="it-IT" sz="1800" dirty="0"/>
              <a:t>Point to the </a:t>
            </a:r>
            <a:r>
              <a:rPr lang="it-IT" sz="1800" u="sng" dirty="0"/>
              <a:t>right</a:t>
            </a:r>
            <a:r>
              <a:rPr lang="it-IT" sz="1800" dirty="0"/>
              <a:t> where MC crosses ATC (i.e., marginal cost of production is </a:t>
            </a:r>
            <a:r>
              <a:rPr lang="it-IT" sz="1800" u="sng" dirty="0"/>
              <a:t>above</a:t>
            </a:r>
            <a:r>
              <a:rPr lang="it-IT" sz="1800" dirty="0"/>
              <a:t> the average total cost of producing) </a:t>
            </a:r>
            <a:r>
              <a:rPr lang="it-IT" sz="1800" dirty="0">
                <a:sym typeface="Wingdings" panose="05000000000000000000" pitchFamily="2" charset="2"/>
              </a:rPr>
              <a:t> Producing one more additional unit will increase average cost overall  ATC </a:t>
            </a:r>
            <a:r>
              <a:rPr lang="it-IT" sz="1800" u="sng" dirty="0">
                <a:sym typeface="Wingdings" panose="05000000000000000000" pitchFamily="2" charset="2"/>
              </a:rPr>
              <a:t>upward-sloping</a:t>
            </a:r>
          </a:p>
          <a:p>
            <a:pPr lvl="1"/>
            <a:r>
              <a:rPr lang="it-IT" sz="1800" dirty="0">
                <a:sym typeface="Wingdings" panose="05000000000000000000" pitchFamily="2" charset="2"/>
              </a:rPr>
              <a:t>The point of transition, must necessarily occur at the minimum of the ATC curve</a:t>
            </a:r>
          </a:p>
          <a:p>
            <a:r>
              <a:rPr lang="it-IT" dirty="0">
                <a:sym typeface="Wingdings" panose="05000000000000000000" pitchFamily="2" charset="2"/>
              </a:rPr>
              <a:t>We can say the same for MC and AVC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203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F203-B47A-440C-BB90-8C421DF7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Law of diminishing returns (</a:t>
            </a:r>
            <a:r>
              <a:rPr lang="it-IT" i="1" dirty="0"/>
              <a:t>or increasing costs)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FF42C-5FD6-4CC8-9795-A2D6D0E52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any production process, at one point adding one more production unit while keeping the other factors constant will cause the overall output to decrease</a:t>
            </a:r>
          </a:p>
          <a:p>
            <a:pPr lvl="1"/>
            <a:r>
              <a:rPr lang="en-US" sz="2400" dirty="0"/>
              <a:t>Costs of production increase rapidly</a:t>
            </a:r>
          </a:p>
          <a:p>
            <a:pPr lvl="1"/>
            <a:r>
              <a:rPr lang="en-US" sz="2400" dirty="0"/>
              <a:t>More inputs are needed to produce more output</a:t>
            </a:r>
          </a:p>
        </p:txBody>
      </p:sp>
    </p:spTree>
    <p:extLst>
      <p:ext uri="{BB962C8B-B14F-4D97-AF65-F5344CB8AC3E}">
        <p14:creationId xmlns:p14="http://schemas.microsoft.com/office/powerpoint/2010/main" val="27077993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0D38D-D9BD-47DF-A1BE-DE9F337C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dirty="0"/>
              <a:t>Determinants of Short Run Costs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BEE257-C71A-42B8-85F7-989A066F18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altLang="en-US" sz="1800" dirty="0"/>
                  <a:t>Assume the wage rate (</a:t>
                </a:r>
                <a:r>
                  <a:rPr lang="en-US" altLang="en-US" sz="1800" i="1" dirty="0"/>
                  <a:t>w</a:t>
                </a:r>
                <a:r>
                  <a:rPr lang="en-US" altLang="en-US" sz="1800" dirty="0"/>
                  <a:t>) is fixed relative to the number of workers hired</a:t>
                </a:r>
              </a:p>
              <a:p>
                <a:pPr eaLnBrk="1" hangingPunct="1"/>
                <a:r>
                  <a:rPr lang="en-US" altLang="en-US" sz="1800" dirty="0"/>
                  <a:t>Capital is fixed in the short run, so it is a fixed cost</a:t>
                </a:r>
              </a:p>
              <a:p>
                <a:pPr eaLnBrk="1" hangingPunct="1"/>
                <a:r>
                  <a:rPr lang="en-US" altLang="en-US" sz="1800" dirty="0"/>
                  <a:t>Variable cost is defined </a:t>
                </a:r>
                <a:r>
                  <a:rPr lang="en-US" altLang="en-US" dirty="0"/>
                  <a:t>as </a:t>
                </a:r>
                <a:r>
                  <a:rPr lang="en-US" altLang="en-US" sz="1800" dirty="0"/>
                  <a:t>the unit cost of extra labor times the amount of extra labor: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nb-NO" altLang="en-US" sz="1800" b="0" i="1" dirty="0" smtClean="0">
                        <a:latin typeface="Cambria Math" panose="02040503050406030204" pitchFamily="18" charset="0"/>
                      </a:rPr>
                      <m:t>∗∆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altLang="en-US" sz="1800" dirty="0"/>
              </a:p>
              <a:p>
                <a:pPr marL="0" indent="0" eaLnBrk="1" hangingPunct="1">
                  <a:buNone/>
                </a:pPr>
                <a:endParaRPr lang="en-US" altLang="en-US" sz="1800" dirty="0"/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i="1">
                          <a:latin typeface="Cambria Math" panose="02040503050406030204" pitchFamily="18" charset="0"/>
                        </a:rPr>
                        <m:t>𝑀𝐶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nb-NO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𝑉𝐶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b-NO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b-NO" i="1">
                          <a:latin typeface="Cambria Math" panose="02040503050406030204" pitchFamily="18" charset="0"/>
                        </a:rPr>
                        <m:t>𝑤</m:t>
                      </m:r>
                      <m:f>
                        <m:f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nb-NO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b-NO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sSub>
                            <m:sSubPr>
                              <m:ctrlPr>
                                <a:rPr lang="nb-N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𝑀𝑃</m:t>
                              </m:r>
                            </m:e>
                            <m:sub>
                              <m:r>
                                <a:rPr lang="nb-NO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latin typeface="Cambria Math" panose="02040503050406030204" pitchFamily="18" charset="0"/>
                  </a:rPr>
                  <a:t>Marginal Product of Labor (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Change in output that results from employing an added unit of labor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𝑀𝑃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Value of Marginal Product (VMP)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𝑀𝑃</m:t>
                        </m:r>
                      </m:e>
                      <m:sub>
                        <m:r>
                          <a:rPr lang="nb-NO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𝑝𝑟𝑖𝑐𝑒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BEE257-C71A-42B8-85F7-989A066F18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7581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7D8A5-7DE3-4C5E-8324-92D763C9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Cobb-Douglas Example </a:t>
            </a:r>
            <a:endParaRPr lang="en-US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CD75B-FFB7-4C7D-84B4-684FBA53C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Economic production function with two or more variables (inputs) that describe the output of a firm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sSup>
                      <m:sSup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𝑒𝑙𝑎𝑠𝑡𝑖𝑐𝑖𝑡𝑦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𝑖𝑛𝑝𝑢𝑡𝑠</m:t>
                    </m:r>
                  </m:oMath>
                </a14:m>
                <a:endParaRPr lang="nb-NO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>
                    <a:sym typeface="Wingdings" panose="05000000000000000000" pitchFamily="2" charset="2"/>
                  </a:rPr>
                  <a:t> constant return</a:t>
                </a:r>
                <a:r>
                  <a:rPr lang="en-US" dirty="0">
                    <a:sym typeface="Wingdings" panose="05000000000000000000" pitchFamily="2" charset="2"/>
                  </a:rPr>
                  <a:t>s </a:t>
                </a:r>
                <a:r>
                  <a:rPr lang="en-US" b="0" dirty="0">
                    <a:sym typeface="Wingdings" panose="05000000000000000000" pitchFamily="2" charset="2"/>
                  </a:rPr>
                  <a:t>to scale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den>
                        </m:f>
                      </m:sup>
                    </m:sSup>
                    <m:r>
                      <a:rPr lang="nb-NO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nb-NO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f>
                          <m:f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den>
                        </m:f>
                      </m:sup>
                    </m:sSup>
                  </m:oMath>
                </a14:m>
                <a:endParaRPr lang="nb-NO" b="0" dirty="0"/>
              </a:p>
              <a:p>
                <a:pPr lvl="1"/>
                <a:r>
                  <a:rPr lang="en-US" dirty="0"/>
                  <a:t>Inputs have a degree of </a:t>
                </a:r>
                <a:r>
                  <a:rPr lang="en-US" u="sng" dirty="0"/>
                  <a:t>substitutability </a:t>
                </a:r>
                <a:endParaRPr lang="en-US" b="0" u="sng" dirty="0"/>
              </a:p>
              <a:p>
                <a:r>
                  <a:rPr lang="en-US" b="0" dirty="0"/>
                  <a:t>Marginal cost with respect to (w.r.t.) production (Y)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nb-NO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b-NO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lim>
                        </m:limLow>
                      </m:fName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𝑤𝐿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𝑟𝐾</m:t>
                        </m:r>
                      </m:e>
                    </m:func>
                  </m:oMath>
                </a14:m>
                <a:r>
                  <a:rPr lang="en-US" b="0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limLow>
                          <m:limLow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nb-NO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</m:sup>
                        </m:sSup>
                        <m:r>
                          <a:rPr lang="nb-NO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nb-NO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f>
                              <m:f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den>
                            </m:f>
                          </m:sup>
                        </m:sSup>
                        <m:r>
                          <a:rPr lang="nb-NO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b-NO" i="1">
                            <a:latin typeface="Cambria Math" panose="02040503050406030204" pitchFamily="18" charset="0"/>
                          </a:rPr>
                          <m:t>𝑟𝐾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:endParaRPr lang="en-US" b="0" dirty="0"/>
              </a:p>
              <a:p>
                <a:pPr lvl="2"/>
                <a:r>
                  <a:rPr lang="en-US" b="0" dirty="0"/>
                  <a:t>Capital = fixed cost</a:t>
                </a:r>
              </a:p>
              <a:p>
                <a:pPr lvl="2"/>
                <a:r>
                  <a:rPr lang="en-US" b="0" dirty="0"/>
                  <a:t>Price of capital = r</a:t>
                </a:r>
              </a:p>
              <a:p>
                <a:pPr marL="685800" lvl="2" indent="0">
                  <a:buNone/>
                </a:pPr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CD75B-FFB7-4C7D-84B4-684FBA53C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4" t="-1832" b="-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154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82B5-F73D-4282-9D65-92516323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Cobb-Douglas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DE2C9-C263-41D0-AFB1-63E92D2D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Which are fixed and variable costs?</a:t>
            </a:r>
          </a:p>
          <a:p>
            <a:pPr lvl="1"/>
            <a:r>
              <a:rPr lang="en-US" sz="2800" dirty="0"/>
              <a:t>TC = VC + FC = </a:t>
            </a:r>
            <a:r>
              <a:rPr lang="en-US" sz="2800" dirty="0" err="1"/>
              <a:t>wL</a:t>
            </a:r>
            <a:r>
              <a:rPr lang="en-US" sz="2800" dirty="0"/>
              <a:t> + </a:t>
            </a:r>
            <a:r>
              <a:rPr lang="en-US" sz="2800" dirty="0" err="1"/>
              <a:t>rK</a:t>
            </a:r>
            <a:endParaRPr lang="en-US" sz="2800" dirty="0"/>
          </a:p>
          <a:p>
            <a:r>
              <a:rPr lang="en-US" sz="2800" dirty="0"/>
              <a:t>Where do diminishing returns show up?</a:t>
            </a:r>
          </a:p>
          <a:p>
            <a:pPr lvl="1"/>
            <a:r>
              <a:rPr lang="en-US" sz="2800" dirty="0"/>
              <a:t>Exponents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931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83BD-3138-4823-8401-610808E9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hutdown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Rule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DC6B-BE2E-4F44-8683-124873E3D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In the short run, a firm may be operating at a loss </a:t>
            </a:r>
          </a:p>
          <a:p>
            <a:pPr lvl="1"/>
            <a:r>
              <a:rPr lang="en-US" sz="2000" dirty="0"/>
              <a:t>Revenue is less than the total cost</a:t>
            </a:r>
          </a:p>
          <a:p>
            <a:pPr lvl="1"/>
            <a:r>
              <a:rPr lang="en-US" sz="2000" dirty="0"/>
              <a:t>Price is less than unit cost</a:t>
            </a:r>
          </a:p>
          <a:p>
            <a:r>
              <a:rPr lang="en-US" sz="2000" dirty="0"/>
              <a:t>Why not?</a:t>
            </a:r>
          </a:p>
          <a:p>
            <a:pPr lvl="1"/>
            <a:r>
              <a:rPr lang="en-US" sz="2000" dirty="0"/>
              <a:t>Price may increase soon </a:t>
            </a:r>
          </a:p>
          <a:p>
            <a:pPr lvl="1"/>
            <a:r>
              <a:rPr lang="en-US" sz="2000" dirty="0"/>
              <a:t>Shutting down &amp; Restarting can be more costly than keeping it going</a:t>
            </a:r>
          </a:p>
          <a:p>
            <a:r>
              <a:rPr lang="en-US" sz="2000" dirty="0"/>
              <a:t>Firms have two choices in the short run</a:t>
            </a:r>
          </a:p>
          <a:p>
            <a:pPr lvl="1"/>
            <a:r>
              <a:rPr lang="en-US" sz="2000" dirty="0"/>
              <a:t>Keep producing</a:t>
            </a:r>
          </a:p>
          <a:p>
            <a:pPr lvl="1"/>
            <a:r>
              <a:rPr lang="en-US" sz="2000" dirty="0"/>
              <a:t>Shutting down temporarily</a:t>
            </a:r>
          </a:p>
          <a:p>
            <a:pPr lvl="1"/>
            <a:r>
              <a:rPr lang="en-US" sz="2000" dirty="0"/>
              <a:t>Which is more profitable?  </a:t>
            </a:r>
          </a:p>
        </p:txBody>
      </p:sp>
    </p:spTree>
    <p:extLst>
      <p:ext uri="{BB962C8B-B14F-4D97-AF65-F5344CB8AC3E}">
        <p14:creationId xmlns:p14="http://schemas.microsoft.com/office/powerpoint/2010/main" val="3401550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83BD-3138-4823-8401-610808E9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S</a:t>
            </a:r>
            <a:r>
              <a:rPr lang="en-US" dirty="0" err="1"/>
              <a:t>hutdown</a:t>
            </a:r>
            <a:r>
              <a:rPr lang="en-US" dirty="0"/>
              <a:t>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9DC6B-BE2E-4F44-8683-124873E3D6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If TR (Total Revenue) &gt; VC (variable costs) </a:t>
                </a:r>
                <a:r>
                  <a:rPr lang="en-US" sz="2400" dirty="0">
                    <a:sym typeface="Wingdings" panose="05000000000000000000" pitchFamily="2" charset="2"/>
                  </a:rPr>
                  <a:t> firm is covering all variable costs and it can partially or entirely cover fixed costs with the remaining revenue</a:t>
                </a:r>
              </a:p>
              <a:p>
                <a:r>
                  <a:rPr lang="en-US" sz="2400" dirty="0"/>
                  <a:t>If TR (Total Revenue) &lt; VC (variable costs) </a:t>
                </a:r>
                <a:r>
                  <a:rPr lang="en-US" sz="2400" dirty="0">
                    <a:sym typeface="Wingdings" panose="05000000000000000000" pitchFamily="2" charset="2"/>
                  </a:rPr>
                  <a:t> firm is not even able to cover shot-run production costs. Therefore, it should shut down</a:t>
                </a:r>
              </a:p>
              <a:p>
                <a:r>
                  <a:rPr lang="en-US" sz="2400" dirty="0">
                    <a:sym typeface="Wingdings" panose="05000000000000000000" pitchFamily="2" charset="2"/>
                  </a:rPr>
                  <a:t>TR &lt; VC = P (price) * Q (quantity) &lt; VC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𝑄</m:t>
                        </m:r>
                      </m:num>
                      <m:den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𝑄</m:t>
                        </m:r>
                      </m:den>
                    </m:f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f>
                      <m:fPr>
                        <m:ctrlP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𝑉𝐶</m:t>
                        </m:r>
                      </m:num>
                      <m:den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𝑄</m:t>
                        </m:r>
                      </m:den>
                    </m:f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𝐴𝑉𝐶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(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𝑎𝑣𝑒𝑟𝑎𝑔𝑒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𝑣𝑎𝑟𝑖𝑎𝑏𝑙𝑒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𝑐𝑜𝑠𝑡𝑠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9DC6B-BE2E-4F44-8683-124873E3D6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2985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83BD-3138-4823-8401-610808E9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S</a:t>
            </a:r>
            <a:r>
              <a:rPr lang="en-US" dirty="0" err="1"/>
              <a:t>hutdown</a:t>
            </a:r>
            <a:r>
              <a:rPr lang="en-US" dirty="0"/>
              <a:t>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9DC6B-BE2E-4F44-8683-124873E3D6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it-IT" sz="2400" dirty="0"/>
                  <a:t>If firm shuts down </a:t>
                </a:r>
              </a:p>
              <a:p>
                <a:pPr lvl="1"/>
                <a:r>
                  <a:rPr lang="it-IT" sz="2400" dirty="0"/>
                  <a:t>Zero revenues, no variable costs, yes fixed costs </a:t>
                </a:r>
                <a:r>
                  <a:rPr lang="it-IT" sz="24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ctrlP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𝑝𝑟𝑜𝑓𝑖𝑡</m:t>
                        </m:r>
                      </m:e>
                    </m:d>
                  </m:oMath>
                </a14:m>
                <a:r>
                  <a:rPr lang="it-IT" sz="2400" dirty="0">
                    <a:sym typeface="Wingdings" panose="05000000000000000000" pitchFamily="2" charset="2"/>
                  </a:rPr>
                  <a:t>= -FC</a:t>
                </a:r>
              </a:p>
              <a:p>
                <a:r>
                  <a:rPr lang="it-IT" sz="2400" dirty="0">
                    <a:sym typeface="Wingdings" panose="05000000000000000000" pitchFamily="2" charset="2"/>
                  </a:rPr>
                  <a:t>Operating firm (not shut down)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nb-NO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d>
                      <m:dPr>
                        <m:ctrlP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𝑝𝑟𝑜𝑓𝑖𝑡</m:t>
                        </m:r>
                      </m:e>
                    </m:d>
                  </m:oMath>
                </a14:m>
                <a:r>
                  <a:rPr lang="it-IT" sz="2400" dirty="0">
                    <a:sym typeface="Wingdings" panose="05000000000000000000" pitchFamily="2" charset="2"/>
                  </a:rPr>
                  <a:t>= R – VC – FC</a:t>
                </a:r>
              </a:p>
              <a:p>
                <a:r>
                  <a:rPr lang="it-IT" sz="2400" dirty="0">
                    <a:sym typeface="Wingdings" panose="05000000000000000000" pitchFamily="2" charset="2"/>
                  </a:rPr>
                  <a:t>In order to operate, </a:t>
                </a:r>
              </a:p>
              <a:p>
                <a:pPr lvl="1"/>
                <a:r>
                  <a:rPr lang="it-IT" sz="2400" dirty="0">
                    <a:sym typeface="Wingdings" panose="05000000000000000000" pitchFamily="2" charset="2"/>
                  </a:rPr>
                  <a:t>R – VC – FC ≥ -FC  R  ≥ VC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9DC6B-BE2E-4F44-8683-124873E3D6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855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5A78-72F7-4455-9BBD-5128F2E5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S</a:t>
            </a:r>
            <a:r>
              <a:rPr lang="en-US" dirty="0" err="1"/>
              <a:t>hutdown</a:t>
            </a:r>
            <a:r>
              <a:rPr lang="en-US" dirty="0"/>
              <a:t>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9D16A-1A02-4991-A7C6-50588B6A7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« In the short run a firm should continue to operate if price exceed average variable costs»</a:t>
            </a:r>
          </a:p>
          <a:p>
            <a:pPr lvl="1"/>
            <a:r>
              <a:rPr lang="it-IT" dirty="0"/>
              <a:t>If AVC &lt; P &lt; ATC </a:t>
            </a:r>
            <a:r>
              <a:rPr lang="it-IT" dirty="0">
                <a:sym typeface="Wingdings" panose="05000000000000000000" pitchFamily="2" charset="2"/>
              </a:rPr>
              <a:t> firm will partially or entirely cover fixed costs in the long run</a:t>
            </a:r>
          </a:p>
          <a:p>
            <a:pPr lvl="1"/>
            <a:r>
              <a:rPr lang="it-IT" dirty="0"/>
              <a:t>If If P &lt; AVC ( &lt; ATC)</a:t>
            </a:r>
            <a:r>
              <a:rPr lang="it-IT" dirty="0">
                <a:sym typeface="Wingdings" panose="05000000000000000000" pitchFamily="2" charset="2"/>
              </a:rPr>
              <a:t> firm is not covering production cost  shutdown </a:t>
            </a:r>
          </a:p>
          <a:p>
            <a:r>
              <a:rPr lang="it-IT" dirty="0">
                <a:sym typeface="Wingdings" panose="05000000000000000000" pitchFamily="2" charset="2"/>
              </a:rPr>
              <a:t>Shutdown is temporary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Not necessarily a firm goes out of business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Market conditions can improve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Firm still has to pay fixed costs</a:t>
            </a:r>
          </a:p>
          <a:p>
            <a:r>
              <a:rPr lang="it-IT" dirty="0">
                <a:sym typeface="Wingdings" panose="05000000000000000000" pitchFamily="2" charset="2"/>
              </a:rPr>
              <a:t>Marginal revenue (MR)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Additional profit that will be generated by increasing product sales by one unit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214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65A8FF-DEFB-47AF-9C2F-D3082902FB4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74564" y="997218"/>
            <a:ext cx="6252959" cy="372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271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F142-00CC-45C2-A83A-7EB184639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Short Run Supply Curve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79BF8-D417-45E1-BC43-F0729499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sz="2800" dirty="0"/>
              <a:t>It tells us how much output is produced at different prices</a:t>
            </a:r>
          </a:p>
          <a:p>
            <a:r>
              <a:rPr lang="it-IT" sz="2800" dirty="0"/>
              <a:t>Portion of a firm’s marginal cost curve that lies </a:t>
            </a:r>
            <a:r>
              <a:rPr lang="it-IT" sz="2800" u="sng" dirty="0"/>
              <a:t>above </a:t>
            </a:r>
            <a:r>
              <a:rPr lang="it-IT" sz="2800" dirty="0"/>
              <a:t>its average cost curve</a:t>
            </a:r>
          </a:p>
          <a:p>
            <a:pPr lvl="1"/>
            <a:r>
              <a:rPr lang="it-IT" sz="2800" dirty="0"/>
              <a:t>Below shutdown point, we do not have supply, the firm is not producing</a:t>
            </a:r>
          </a:p>
          <a:p>
            <a:r>
              <a:rPr lang="it-IT" sz="2800" dirty="0"/>
              <a:t>Upward sloping: quantity supplied increases as price rises</a:t>
            </a:r>
            <a:endParaRPr lang="en-US" sz="2800" dirty="0"/>
          </a:p>
          <a:p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1981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EAEE-2AF4-47D0-9BFF-AC79EA8B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Profit Maximization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4DB2D-7169-4460-AE6B-31DB9B4D3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It is determined by price and output level</a:t>
            </a:r>
          </a:p>
          <a:p>
            <a:r>
              <a:rPr lang="en-US" sz="2800" dirty="0"/>
              <a:t>Marginal Profit (MP) = Marginal Revenue (MR) – Marginal Cost (MC)</a:t>
            </a:r>
          </a:p>
          <a:p>
            <a:pPr lvl="1"/>
            <a:r>
              <a:rPr lang="en-US" sz="2800" dirty="0"/>
              <a:t>A firm will continue to produce till marginal profit is equal to zero </a:t>
            </a:r>
            <a:r>
              <a:rPr lang="en-US" sz="2800" dirty="0">
                <a:sym typeface="Wingdings" panose="05000000000000000000" pitchFamily="2" charset="2"/>
              </a:rPr>
              <a:t> MP = MR-MC  0=MR-MC  MR=MC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238295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71271F-0BDF-47BE-A77C-FB830EC8849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775619" y="1008063"/>
            <a:ext cx="5592762" cy="36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819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6D96-7B95-4692-986F-553E0023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dirty="0"/>
              <a:t>Short-run Supply </a:t>
            </a:r>
            <a:r>
              <a:rPr lang="nb-NO" dirty="0" err="1"/>
              <a:t>Curve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F5B8C-2F54-4705-BC8E-2EE7B3036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Over time, prices of product and inputs can change</a:t>
            </a:r>
          </a:p>
          <a:p>
            <a:pPr eaLnBrk="1" hangingPunct="1"/>
            <a:r>
              <a:rPr lang="en-US" altLang="en-US" sz="2800" dirty="0"/>
              <a:t>How does the firm’s output change in response to a change in the price of an input?</a:t>
            </a:r>
          </a:p>
          <a:p>
            <a:pPr lvl="1" eaLnBrk="1" hangingPunct="1"/>
            <a:r>
              <a:rPr lang="en-US" altLang="en-US" sz="2800" dirty="0">
                <a:ea typeface="ＭＳ Ｐゴシック" pitchFamily="-1" charset="-128"/>
              </a:rPr>
              <a:t>We can show how an increase in marginal costs change firm’s output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370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F5A5C4-BD1A-4AEE-97B9-FEFA8A99C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516175"/>
            <a:ext cx="7503388" cy="468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712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CFDC-64C3-40D1-8401-417ABF5A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Economies of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5D5CF-34D9-4DC9-A590-0C88FFF7C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output increases, the cost per unit of production (average cost) decreases</a:t>
            </a:r>
          </a:p>
          <a:p>
            <a:pPr lvl="1"/>
            <a:r>
              <a:rPr lang="en-US" dirty="0"/>
              <a:t>Example – Specialization: assembly line with many different jobs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F00BC-F74D-4499-84B3-3B50121DE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83" y="2269434"/>
            <a:ext cx="4231834" cy="268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152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F0E8-2F57-4071-BD49-0361AE24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Long-Run Costs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B50D10-88CC-4C44-8733-96208BE58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Economies of scale </a:t>
                </a:r>
                <a:r>
                  <a:rPr lang="en-US" dirty="0"/>
                  <a:t>are measured in terms of cost-output elasticity,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nb-NO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nb-NO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the percentage change in the cost of production resulting from a small increase in output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nb-NO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𝑀𝐶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𝐴𝐶</m:t>
                          </m:r>
                        </m:den>
                      </m:f>
                    </m:oMath>
                  </m:oMathPara>
                </a14:m>
                <a:endParaRPr lang="nb-NO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B50D10-88CC-4C44-8733-96208BE58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t="-1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6585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EFD1029-23FD-4702-A606-84FBC7A03F8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en-US" dirty="0"/>
                  <a:t>Cost-output elasticity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EFD1029-23FD-4702-A606-84FBC7A03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9FD5B1-721B-4710-84CA-0F53E9C09F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1676" y="1425575"/>
            <a:ext cx="5600647" cy="333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440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46AD-6FD8-4A0E-8F45-A9734B94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Long Run Average and Marginal Cost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8967E-1DB8-4402-BCBA-6FC8DEB0174B}"/>
              </a:ext>
            </a:extLst>
          </p:cNvPr>
          <p:cNvSpPr txBox="1"/>
          <p:nvPr/>
        </p:nvSpPr>
        <p:spPr>
          <a:xfrm>
            <a:off x="628650" y="1425575"/>
            <a:ext cx="226695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LRMC crosses the LRAC at the minimum point of the LRAC. When LRMC is below LRAC, LRAC is falling (as additional units of output are considered).</a:t>
            </a:r>
          </a:p>
          <a:p>
            <a:endParaRPr lang="en-US" sz="1600" dirty="0"/>
          </a:p>
          <a:p>
            <a:r>
              <a:rPr lang="en-US" sz="1600" i="1" dirty="0"/>
              <a:t>Minimum efficient scale </a:t>
            </a:r>
            <a:r>
              <a:rPr lang="en-US" sz="1600" dirty="0"/>
              <a:t>is the point where the smallest   quantity of good is produced in the long run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15E38A-8965-4F81-A10A-6DDA5C66A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662" y="1408907"/>
            <a:ext cx="4856725" cy="333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17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0724-8854-4922-9DC8-2DB3E820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58A40-8316-4E53-88D8-77D5B8D2D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 dirty="0"/>
              <a:t>Production function explains the relationship between the quantities of inputs (labor and capital) used and the amount of output obtained.</a:t>
            </a:r>
          </a:p>
          <a:p>
            <a:pPr eaLnBrk="1" hangingPunct="1"/>
            <a:r>
              <a:rPr lang="en-US" altLang="en-US" sz="1800" dirty="0"/>
              <a:t>Marginal product refers to the additional output produced by a unit-increase </a:t>
            </a:r>
            <a:r>
              <a:rPr lang="en-US" altLang="en-US" dirty="0"/>
              <a:t>of input (usually labor)</a:t>
            </a:r>
            <a:endParaRPr lang="en-US" altLang="en-US" sz="1800" dirty="0"/>
          </a:p>
          <a:p>
            <a:pPr eaLnBrk="1" hangingPunct="1"/>
            <a:r>
              <a:rPr lang="en-US" altLang="en-US" sz="1800" dirty="0"/>
              <a:t>Average product is the total product per unit of inputs</a:t>
            </a:r>
          </a:p>
          <a:p>
            <a:pPr eaLnBrk="1" hangingPunct="1"/>
            <a:r>
              <a:rPr lang="en-US" altLang="en-US" sz="1800" dirty="0"/>
              <a:t>Law of diminishing returns</a:t>
            </a:r>
            <a:r>
              <a:rPr lang="en-US" altLang="en-US" dirty="0"/>
              <a:t>: while increasing the production of an input and keeping the others constant, a point will be eventually reached at which additional input will produce progressively smaller (i.e., diminishing) increases in output</a:t>
            </a:r>
            <a:endParaRPr lang="en-US" altLang="en-US" sz="1800" dirty="0"/>
          </a:p>
          <a:p>
            <a:pPr eaLnBrk="1" hangingPunct="1"/>
            <a:r>
              <a:rPr lang="en-US" altLang="en-US" sz="1800" dirty="0"/>
              <a:t>Technological change provides an explanation for why total output may increase given the law of diminishing marginal returns</a:t>
            </a:r>
          </a:p>
          <a:p>
            <a:pPr eaLnBrk="1" hangingPunct="1"/>
            <a:endParaRPr lang="en-US" alt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387797"/>
      </p:ext>
    </p:extLst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3532</TotalTime>
  <Words>2866</Words>
  <Application>Microsoft Office PowerPoint</Application>
  <PresentationFormat>On-screen Show (16:10)</PresentationFormat>
  <Paragraphs>286</Paragraphs>
  <Slides>60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3" baseType="lpstr">
      <vt:lpstr>ＭＳ Ｐゴシック</vt:lpstr>
      <vt:lpstr>Arial</vt:lpstr>
      <vt:lpstr>Calibri</vt:lpstr>
      <vt:lpstr>Calibri Light</vt:lpstr>
      <vt:lpstr>Cambria Math</vt:lpstr>
      <vt:lpstr>TT Commons</vt:lpstr>
      <vt:lpstr>Wingdings</vt:lpstr>
      <vt:lpstr>1_Mørkblå-bakgrunn</vt:lpstr>
      <vt:lpstr>2_Lysblå-bakgrunn</vt:lpstr>
      <vt:lpstr>3_Hvit-bakgrunn</vt:lpstr>
      <vt:lpstr>4_Si ifra!</vt:lpstr>
      <vt:lpstr>4_Blanko</vt:lpstr>
      <vt:lpstr>Microsoft Excel Chart</vt:lpstr>
      <vt:lpstr>Lecture #4 Producer Theory</vt:lpstr>
      <vt:lpstr>Firm’s Production Decisions</vt:lpstr>
      <vt:lpstr>Firm’s Production Decisions</vt:lpstr>
      <vt:lpstr>Firm’s Production Decisions</vt:lpstr>
      <vt:lpstr>Firm’s Production Decisions</vt:lpstr>
      <vt:lpstr>The Technology of Production</vt:lpstr>
      <vt:lpstr>The Technology of Production</vt:lpstr>
      <vt:lpstr>Production: One Variable Input</vt:lpstr>
      <vt:lpstr>PowerPoint Presentation</vt:lpstr>
      <vt:lpstr>Input</vt:lpstr>
      <vt:lpstr>PowerPoint Presentation</vt:lpstr>
      <vt:lpstr>Production: One Variable Input</vt:lpstr>
      <vt:lpstr>Production: One Variable Input</vt:lpstr>
      <vt:lpstr>Production: One Variable Input</vt:lpstr>
      <vt:lpstr>PowerPoint Presentation</vt:lpstr>
      <vt:lpstr>Production: One Variable Input</vt:lpstr>
      <vt:lpstr>PowerPoint Presentation</vt:lpstr>
      <vt:lpstr>Production: One Variable Input</vt:lpstr>
      <vt:lpstr>Production: One Variable Input</vt:lpstr>
      <vt:lpstr>Law of Diminishing Marginal Returns</vt:lpstr>
      <vt:lpstr>Causes of Diminishing Marginal Returns</vt:lpstr>
      <vt:lpstr>Law of Diminishing Marginal Returns</vt:lpstr>
      <vt:lpstr>Law of Diminishing Marginal Returns</vt:lpstr>
      <vt:lpstr>Technological Change</vt:lpstr>
      <vt:lpstr>Technological Change</vt:lpstr>
      <vt:lpstr>Labor Productivity</vt:lpstr>
      <vt:lpstr>Production Costs</vt:lpstr>
      <vt:lpstr>Fixed Costs</vt:lpstr>
      <vt:lpstr>Total Costs</vt:lpstr>
      <vt:lpstr>Measuring Cost Directly: Which Costs Matter?</vt:lpstr>
      <vt:lpstr>Accounting cost</vt:lpstr>
      <vt:lpstr>Economic cost</vt:lpstr>
      <vt:lpstr>Opportunity Cost</vt:lpstr>
      <vt:lpstr>PowerPoint Presentation</vt:lpstr>
      <vt:lpstr>Sunk Cost</vt:lpstr>
      <vt:lpstr>Average Total Cost (ATC)</vt:lpstr>
      <vt:lpstr>PowerPoint Presentation</vt:lpstr>
      <vt:lpstr>Marginal Cost (MC) and Average Variable Cost (AVC)</vt:lpstr>
      <vt:lpstr>PowerPoint Presentation</vt:lpstr>
      <vt:lpstr>ATC, AVC, and MC relationship</vt:lpstr>
      <vt:lpstr>Why?</vt:lpstr>
      <vt:lpstr>Law of diminishing returns (or increasing costs)</vt:lpstr>
      <vt:lpstr>Determinants of Short Run Costs </vt:lpstr>
      <vt:lpstr>Cobb-Douglas Example </vt:lpstr>
      <vt:lpstr>Cobb-Douglas </vt:lpstr>
      <vt:lpstr>Shutdown Rule</vt:lpstr>
      <vt:lpstr>Shutdown Rule</vt:lpstr>
      <vt:lpstr>Shutdown Rule</vt:lpstr>
      <vt:lpstr>Shutdown Rule</vt:lpstr>
      <vt:lpstr>PowerPoint Presentation</vt:lpstr>
      <vt:lpstr>Short Run Supply Curve</vt:lpstr>
      <vt:lpstr>Profit Maximization</vt:lpstr>
      <vt:lpstr>PowerPoint Presentation</vt:lpstr>
      <vt:lpstr>Short-run Supply Curve</vt:lpstr>
      <vt:lpstr>PowerPoint Presentation</vt:lpstr>
      <vt:lpstr>Economies of Scale</vt:lpstr>
      <vt:lpstr>Long-Run Costs</vt:lpstr>
      <vt:lpstr>Cost-output elasticity E_c</vt:lpstr>
      <vt:lpstr>Long Run Average and Marginal Cost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Alessandro Edoardo Giorgio David Di Mattia</cp:lastModifiedBy>
  <cp:revision>21</cp:revision>
  <dcterms:created xsi:type="dcterms:W3CDTF">2021-07-15T16:00:15Z</dcterms:created>
  <dcterms:modified xsi:type="dcterms:W3CDTF">2026-08-14T12:15:06Z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  <property fmtid="{D5CDD505-2E9C-101B-9397-08002B2CF9AE}" pid="3" name="MSIP_Label_ee59125d-3421-490c-8c49-713131ff88a1_Enabled">
    <vt:lpwstr>true</vt:lpwstr>
  </property>
  <property fmtid="{D5CDD505-2E9C-101B-9397-08002B2CF9AE}" pid="4" name="MSIP_Label_ee59125d-3421-490c-8c49-713131ff88a1_SetDate">
    <vt:lpwstr>2026-08-14T10:54:56Z</vt:lpwstr>
  </property>
  <property fmtid="{D5CDD505-2E9C-101B-9397-08002B2CF9AE}" pid="5" name="MSIP_Label_ee59125d-3421-490c-8c49-713131ff88a1_Method">
    <vt:lpwstr>Standard</vt:lpwstr>
  </property>
  <property fmtid="{D5CDD505-2E9C-101B-9397-08002B2CF9AE}" pid="6" name="MSIP_Label_ee59125d-3421-490c-8c49-713131ff88a1_Name">
    <vt:lpwstr>Yellow</vt:lpwstr>
  </property>
  <property fmtid="{D5CDD505-2E9C-101B-9397-08002B2CF9AE}" pid="7" name="MSIP_Label_ee59125d-3421-490c-8c49-713131ff88a1_SiteId">
    <vt:lpwstr>938c1eb0-9d08-484b-92b9-53f583bd08fb</vt:lpwstr>
  </property>
  <property fmtid="{D5CDD505-2E9C-101B-9397-08002B2CF9AE}" pid="8" name="MSIP_Label_ee59125d-3421-490c-8c49-713131ff88a1_ActionId">
    <vt:lpwstr>86b7e171-957e-4678-baf3-ea876d52b233</vt:lpwstr>
  </property>
  <property fmtid="{D5CDD505-2E9C-101B-9397-08002B2CF9AE}" pid="9" name="MSIP_Label_ee59125d-3421-490c-8c49-713131ff88a1_ContentBits">
    <vt:lpwstr>0</vt:lpwstr>
  </property>
  <property fmtid="{D5CDD505-2E9C-101B-9397-08002B2CF9AE}" pid="10" name="MSIP_Label_ee59125d-3421-490c-8c49-713131ff88a1_Tag">
    <vt:lpwstr>10, 3, 0, 1</vt:lpwstr>
  </property>
</Properties>
</file>